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Quiénes somos" id="{a07f0daa-0dd1-f1ac-fa7c-0762419ae91a}">
          <p14:sldIdLst>
            <p14:sldId id="256"/>
            <p14:sldId id="257"/>
            <p14:sldId id="258"/>
          </p14:sldIdLst>
        </p14:section>
        <p14:section name="Diagnóstico" id="{916935f5-92cc-827a-6ec7-ef58f57a1d6f}">
          <p14:sldIdLst>
            <p14:sldId id="259"/>
          </p14:sldIdLst>
        </p14:section>
        <p14:section name="Propuesta" id="{87421764-accd-0dc1-1bfc-b99b01e6d5a3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Cierre" id="{d9a7e946-7983-4549-393c-52d6656d1b1a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comercial de SYMTHREE para EuroTex. Abrir con el objetivo: renovar la imagen de EuroTex, entregar un sitio 100% funcional y publicado, y abrir canales de prospección. Fuente: eurotex.com.mx y eurotex.com.mx/servicios. Revisión de contenido público: 6 de octubre de 2026. Las propuestas describen alcance sugerido, sujeto a levantamiento y cotización.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breve de quién propone. Datos tomados del portafolio público: gerardovalpuesta.vercel.app/portfolio. Gerardo Valpuesta es ingeniero de software con más de 6 años de experiencia. Propuesta técnica y de diseño: la parte de identidad se trabaja con apoyo de un especialista en diseño.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Casos del portafolio con resultados declarados en el mismo. TersaNet: cotizaciones e inventario con reportes PDF. XAMAI 2.0: portal SaaS ERP, reducción del 85% en tiempos de carga y aumento del 90% en satisfacción. CRM de WhatsApp con IA: atención inicial y seguimiento a prospectos. StudioKin: sitio interactivo con demos en vivo. Resultados reportados por el portafolio; no son resultados proyectados para EuroTex.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eurotex.com.mx y eurotex.com.mx/servicios. Revisión de contenido público: 6 de octubre de 2026. Las propuestas describen alcance sugerido, sujeto a levantamiento y cotización. Hallazgos verificables en inicio: John Vicks v1/v2, Company ABCD/EFGH y texto lorem ipsum. Formulario y enlaces del pie en inglés. La ruta y el catálogo son recomendaciones, no resultados de una auditoría técnica.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ejecutivo de la propuesta. Eje 1: imagen de marca (actualización del logotipo y estandarización visual). Eje 2: presencia digital (conclusión y diseño del sitio, catálogo de representadas). Eje 3: estrategia comercial (contacto inmediato, prospección digital, mejora de la primera impresión). Cada eje se puede contratar por separado.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Conceptos A y B generados para explorar una renovación opcional. Concepto C: recreación en alta definición del logo tipográfico proporcionado por el cliente, manteniendo su estilo y acento azul en la X. Requiere vectorización para uso maestro. No son logotipos aprobados ni archivos maestros. La fase de marca incluiría refinamiento, vectorización, variantes y guía de uso.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Estandarización visual: definir colores oficiales, tipografías y formatos de uso para que toda la comunicación de la empresa tenga una imagen unificada. La paleta y las tipografías mostradas son una propuesta preliminar basada en el concepto C; se definen y aprueban en la fase de marca.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eurotex.com.mx y eurotex.com.mx/servicios. Revisión de contenido público: 6 de octubre de 2026. Las propuestas describen alcance sugerido, sujeto a levantamiento y cotización. Imagen conceptual generada para ilustrar el rediseño. No es una implementación ni fotografía de instalaciones de EuroTex. Diseño y contenidos por validar con EuroTex.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Imagen conceptual generada para ilustrar la propuesta responsiva. No representa el sitio actual ni una implementación final. El cliente reporta problemas al adaptar el sitio, incluido el menú. Alcance propuesto: diseño completamente responsivo y validación de navegación, submenús, formularios, botones, imágenes y contenido en móvil, tablet y escritorio. Acordar navegadores y matriz de dispositivos en el alcance.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Sección clara dentro del sitio donde los clientes ven todas las marcas que maneja EuroTex y los servicios técnicos que se ofrecen para cada una, de manera gráfica. Las categorías mostradas son una primera clasificación de trabajo y los servicios por marca son una plantilla: se confirman con EuroTex en el levantamiento. Pendiente: logotipos oficiales de cada marca y autorización para su uso.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Facilidad de contacto inmediato: formularios automáticos y botón directo de WhatsApp Business en el sitio para que quien necesite una cotización o servicio técnico se comunique al instante. La conversación mostrada es una ilustración conceptual. Requiere definir número, horarios y responsables de atención.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Búsqueda digital de clientes: crear un método de prospección con herramientas digitales (como Google y redes profesionales) para identificar nuevas textileras o empresas del sector en México que utilicen maquinaria de las representadas, armando una base de datos de clientes potenciales. Usar solo información pública y respetar la normativa de datos personales. No se prometen cierres ni volumen de prospectos; el entregable es el método y la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Mejora en la experiencia del cliente: asegurar que la primera impresión de cualquier empresa que busque a EuroTex por internet sea la de una compañía moderna, tecnológica, líder en el mercado y con canales de atención rápidos y eficientes. Columna 'Hoy': hallazgos verificables del sitio actual al 6 de octubre de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Capacidades de SYMTHREE como módulos opcionales con alcance y cotización propios. Ejemplos de uso propuestos para EuroTex, no afirmaciones sobre sus sistemas actuales. Cualquier integración requiere validar accesibilidad técnica, seguridad, licencias, permisos y alcance con la contraparte. Los indicadores de BI son sugeridos; definir fuentes, reglas de cálculo, periodicidad y responsables.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Fases sin fechas: los plazos, entregables, aceptación, mantenimiento y costos recurrentes se definen en la cotización formal. No se presentan precios ni plazos sin confirmación.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comercial: solicitar reunión de levantamiento para confirmar catálogo, contenidos, responsables, accesos, integración y módulos prioritarios. La cotización formal define inversión, calendario, entregables, aceptación, mantenimiento y costos recurrentes. Datos de contacto del portafolio público.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OSCURA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ndo de hilos azule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0" y="0"/>
            <a:ext cx="4507992" cy="6858000"/>
          </a:xfrm>
          <a:prstGeom prst="rect">
            <a:avLst/>
          </a:prstGeom>
        </p:spPr>
      </p:pic>
      <p:pic>
        <p:nvPicPr>
          <p:cNvPr id="3" name="Image 1" descr="SYMTHREE Enterprise Technology &amp; Intelligenc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640080"/>
            <a:ext cx="3291840" cy="10972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F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PARA EUROTEX</a:t>
            </a:r>
            <a:endParaRPr lang="en-US" sz="14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2743200"/>
            <a:ext cx="6675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0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Identidad, web y crecimiento comercial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448056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A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marca renovada, un sitio que facilita la cotización y nuevas vías para encontrar clientes en la industria textil.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A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Octubre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SYMTHREE: tecnología a la medida de su operación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Technology &amp; Intelligence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92024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Somos la práctica de ingeniería de software de Gerardo Valpuesta: construimos sitios web, sistemas a la medida, automatizaciones con inteligencia artificial e integraciones entre plataformas.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57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EuroTex, un solo equipo cubre la imagen, el sitio web y las herramientas comerciales que lo acompañan.</a:t>
            </a:r>
            <a:endParaRPr lang="en-US" sz="1600" dirty="0"/>
          </a:p>
        </p:txBody>
      </p:sp>
      <p:sp>
        <p:nvSpPr>
          <p:cNvPr id="7" name="Dato 1"/>
          <p:cNvSpPr/>
          <p:nvPr/>
        </p:nvSpPr>
        <p:spPr>
          <a:xfrm>
            <a:off x="6400800" y="1508760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29400" y="150876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6+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150876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años construyendo software y automatizaciones</a:t>
            </a:r>
            <a:endParaRPr lang="en-US" sz="1500" dirty="0"/>
          </a:p>
        </p:txBody>
      </p:sp>
      <p:sp>
        <p:nvSpPr>
          <p:cNvPr id="10" name="Dato 2"/>
          <p:cNvSpPr/>
          <p:nvPr/>
        </p:nvSpPr>
        <p:spPr>
          <a:xfrm>
            <a:off x="6400800" y="2834640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29400" y="283464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283464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documentados en el portafolio</a:t>
            </a:r>
            <a:endParaRPr lang="en-US" sz="1500" dirty="0"/>
          </a:p>
        </p:txBody>
      </p:sp>
      <p:sp>
        <p:nvSpPr>
          <p:cNvPr id="13" name="Dato 3"/>
          <p:cNvSpPr/>
          <p:nvPr/>
        </p:nvSpPr>
        <p:spPr>
          <a:xfrm>
            <a:off x="6400800" y="4160520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29400" y="416052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C5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416052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licitación ganada en 2021 con una app de campo</a:t>
            </a:r>
            <a:endParaRPr lang="en-US" sz="1500" dirty="0"/>
          </a:p>
        </p:txBody>
      </p:sp>
      <p:sp>
        <p:nvSpPr>
          <p:cNvPr id="16" name="Etiqueta"/>
          <p:cNvSpPr/>
          <p:nvPr/>
        </p:nvSpPr>
        <p:spPr>
          <a:xfrm>
            <a:off x="548640" y="56692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6692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Sitios web</a:t>
            </a:r>
            <a:endParaRPr lang="en-US" sz="1100" dirty="0"/>
          </a:p>
        </p:txBody>
      </p:sp>
      <p:sp>
        <p:nvSpPr>
          <p:cNvPr id="18" name="Etiqueta"/>
          <p:cNvSpPr/>
          <p:nvPr/>
        </p:nvSpPr>
        <p:spPr>
          <a:xfrm>
            <a:off x="1874520" y="566928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74520" y="56692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ERP y CRM</a:t>
            </a:r>
            <a:endParaRPr lang="en-US" sz="1100" dirty="0"/>
          </a:p>
        </p:txBody>
      </p:sp>
      <p:sp>
        <p:nvSpPr>
          <p:cNvPr id="20" name="Etiqueta"/>
          <p:cNvSpPr/>
          <p:nvPr/>
        </p:nvSpPr>
        <p:spPr>
          <a:xfrm>
            <a:off x="3749040" y="566928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49040" y="56692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Automatización e IA</a:t>
            </a:r>
            <a:endParaRPr lang="en-US" sz="1100" dirty="0"/>
          </a:p>
        </p:txBody>
      </p:sp>
      <p:sp>
        <p:nvSpPr>
          <p:cNvPr id="22" name="Etiqueta"/>
          <p:cNvSpPr/>
          <p:nvPr/>
        </p:nvSpPr>
        <p:spPr>
          <a:xfrm>
            <a:off x="5623560" y="566928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623560" y="5669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Integración de APIs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Portafolio: gerardovalpuesta.vercel.app/portfolio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Experiencia que ya funciona en operación</a:t>
            </a:r>
            <a:endParaRPr lang="en-US" sz="3200" dirty="0"/>
          </a:p>
        </p:txBody>
      </p:sp>
      <p:sp>
        <p:nvSpPr>
          <p:cNvPr id="4" name="Caso 1"/>
          <p:cNvSpPr/>
          <p:nvPr/>
        </p:nvSpPr>
        <p:spPr>
          <a:xfrm>
            <a:off x="548640" y="150876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pic>
        <p:nvPicPr>
          <p:cNvPr id="5" name="Image 0" descr="Captura de TersaNe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618488"/>
            <a:ext cx="2340864" cy="17373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31520" y="3520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TersaNet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397764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 de cotizaciones e inventario: elimina errores de cálculo y agiliza el ciclo de venta.</a:t>
            </a:r>
            <a:endParaRPr lang="en-US" sz="1400" dirty="0"/>
          </a:p>
        </p:txBody>
      </p:sp>
      <p:sp>
        <p:nvSpPr>
          <p:cNvPr id="8" name="Caso 2"/>
          <p:cNvSpPr/>
          <p:nvPr/>
        </p:nvSpPr>
        <p:spPr>
          <a:xfrm>
            <a:off x="3392424" y="150876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pic>
        <p:nvPicPr>
          <p:cNvPr id="9" name="Image 1" descr="Captura de Portal XAMAI 2.0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502152" y="1618488"/>
            <a:ext cx="2340864" cy="17373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575304" y="3520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XAMAI 2.0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3575304" y="397764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Rediseño de portal de clientes: 85% menos tiempo de carga inicial.</a:t>
            </a:r>
            <a:endParaRPr lang="en-US" sz="1400" dirty="0"/>
          </a:p>
        </p:txBody>
      </p:sp>
      <p:sp>
        <p:nvSpPr>
          <p:cNvPr id="12" name="Caso 3"/>
          <p:cNvSpPr/>
          <p:nvPr/>
        </p:nvSpPr>
        <p:spPr>
          <a:xfrm>
            <a:off x="6236208" y="150876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pic>
        <p:nvPicPr>
          <p:cNvPr id="13" name="Image 2" descr="Captura de CRM de WhatsApp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45936" y="1618488"/>
            <a:ext cx="2340864" cy="17373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419088" y="3520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de WhatsApp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6419088" y="397764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Atención inmediata y seguimiento automático de prospectos.</a:t>
            </a:r>
            <a:endParaRPr lang="en-US" sz="1400" dirty="0"/>
          </a:p>
        </p:txBody>
      </p:sp>
      <p:sp>
        <p:nvSpPr>
          <p:cNvPr id="16" name="Caso 4"/>
          <p:cNvSpPr/>
          <p:nvPr/>
        </p:nvSpPr>
        <p:spPr>
          <a:xfrm>
            <a:off x="9079992" y="150876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pic>
        <p:nvPicPr>
          <p:cNvPr id="17" name="Image 3" descr="Captura de StudioKin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89720" y="1618488"/>
            <a:ext cx="2340864" cy="173736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262872" y="3520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StudioKin</a:t>
            </a:r>
            <a:endParaRPr lang="en-US" sz="1600" dirty="0"/>
          </a:p>
        </p:txBody>
      </p:sp>
      <p:sp>
        <p:nvSpPr>
          <p:cNvPr id="19" name="Text 12"/>
          <p:cNvSpPr txBox="1"/>
          <p:nvPr/>
        </p:nvSpPr>
        <p:spPr>
          <a:xfrm>
            <a:off x="9262872" y="397764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Sitio interactivo con demos web en vivo para sus clientes.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casos en gerardovalpuesta.vercel.app/portfolio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Oportunidades en el sitio actual</a:t>
            </a:r>
            <a:endParaRPr lang="en-US" sz="3200" dirty="0"/>
          </a:p>
        </p:txBody>
      </p:sp>
      <p:sp>
        <p:nvSpPr>
          <p:cNvPr id="4" name="Oportunidad 1"/>
          <p:cNvSpPr/>
          <p:nvPr/>
        </p:nvSpPr>
        <p:spPr>
          <a:xfrm>
            <a:off x="548640" y="164592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8745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Confianza en cada sección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490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Sustituir testimonios y textos de ejemplo por casos reales autorizados y unificar el idioma.</a:t>
            </a:r>
            <a:endParaRPr lang="en-US" sz="1500" dirty="0"/>
          </a:p>
        </p:txBody>
      </p:sp>
      <p:sp>
        <p:nvSpPr>
          <p:cNvPr id="8" name="Oportunidad 2"/>
          <p:cNvSpPr/>
          <p:nvPr/>
        </p:nvSpPr>
        <p:spPr>
          <a:xfrm>
            <a:off x="4297680" y="164592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0" y="18745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ruta clara hacia la cotización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37490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Guiar al visitante desde su necesidad hasta una solicitud con datos útiles para ventas.</a:t>
            </a:r>
            <a:endParaRPr lang="en-US" sz="1500" dirty="0"/>
          </a:p>
        </p:txBody>
      </p:sp>
      <p:sp>
        <p:nvSpPr>
          <p:cNvPr id="12" name="Oportunidad 3"/>
          <p:cNvSpPr/>
          <p:nvPr/>
        </p:nvSpPr>
        <p:spPr>
          <a:xfrm>
            <a:off x="8046720" y="164592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21040" y="18745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catálogo más fácil de consultar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37490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las marcas representadas con sus servicios, fichas y consulta comercial contextual.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Basado en revisión de contenido público del sitio, 6 de octubre de 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Nuestra propuesta: tres ejes para EuroTex</a:t>
            </a:r>
            <a:endParaRPr lang="en-US" sz="3200" dirty="0"/>
          </a:p>
        </p:txBody>
      </p:sp>
      <p:sp>
        <p:nvSpPr>
          <p:cNvPr id="4" name="Eje 1"/>
          <p:cNvSpPr/>
          <p:nvPr/>
        </p:nvSpPr>
        <p:spPr>
          <a:xfrm>
            <a:off x="54864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5" name="Icono fondo"/>
          <p:cNvSpPr/>
          <p:nvPr/>
        </p:nvSpPr>
        <p:spPr>
          <a:xfrm>
            <a:off x="822960" y="1828800"/>
            <a:ext cx="822960" cy="82296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6" name="Image 0" descr="ico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203454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82880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 1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182880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 de marca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2004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Logotipo actualizado, profesional y nítido en digital e impreso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Colores, tipografías y formatos oficiales</a:t>
            </a:r>
            <a:endParaRPr lang="en-US" sz="1500" dirty="0"/>
          </a:p>
        </p:txBody>
      </p:sp>
      <p:sp>
        <p:nvSpPr>
          <p:cNvPr id="10" name="Eje 2"/>
          <p:cNvSpPr/>
          <p:nvPr/>
        </p:nvSpPr>
        <p:spPr>
          <a:xfrm>
            <a:off x="429768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1" name="Icono fondo"/>
          <p:cNvSpPr/>
          <p:nvPr/>
        </p:nvSpPr>
        <p:spPr>
          <a:xfrm>
            <a:off x="4572000" y="1828800"/>
            <a:ext cx="822960" cy="82296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12" name="Image 1" descr="icon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203454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57784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 2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557784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Presencia digital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0" y="32004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Sitio web 100% funcional y publicado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de representadas con sus servicios</a:t>
            </a:r>
            <a:endParaRPr lang="en-US" sz="1500" dirty="0"/>
          </a:p>
        </p:txBody>
      </p:sp>
      <p:sp>
        <p:nvSpPr>
          <p:cNvPr id="16" name="Eje 3"/>
          <p:cNvSpPr/>
          <p:nvPr/>
        </p:nvSpPr>
        <p:spPr>
          <a:xfrm>
            <a:off x="804672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7" name="Icono fondo"/>
          <p:cNvSpPr/>
          <p:nvPr/>
        </p:nvSpPr>
        <p:spPr>
          <a:xfrm>
            <a:off x="8321040" y="1828800"/>
            <a:ext cx="822960" cy="82296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18" name="Image 2" descr="icon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780" y="203454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2688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 3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932688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Estrategia comercial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8321040" y="32004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Contacto inmediato: formularios y WhatsApp Business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Prospección digital de nuevos clientes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eje puede contratarse por separado o en conjunto.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 1 · Tres rutas para renovar el logotipo</a:t>
            </a:r>
            <a:endParaRPr lang="en-US" sz="3200" dirty="0"/>
          </a:p>
        </p:txBody>
      </p:sp>
      <p:sp>
        <p:nvSpPr>
          <p:cNvPr id="4" name="Panel logos A y B"/>
          <p:cNvSpPr/>
          <p:nvPr/>
        </p:nvSpPr>
        <p:spPr>
          <a:xfrm>
            <a:off x="548640" y="1463040"/>
            <a:ext cx="576072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onceptos A y B de logotipo EuroTex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760720" cy="38404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4406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Monograma tejido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 industrial con referencia al tejido textil.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3474720" y="5440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Entrelazado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Símbolo contemporáneo para materiales comerciales.</a:t>
            </a:r>
            <a:endParaRPr lang="en-US" sz="1300" dirty="0"/>
          </a:p>
        </p:txBody>
      </p:sp>
      <p:sp>
        <p:nvSpPr>
          <p:cNvPr id="8" name="Panel logo C"/>
          <p:cNvSpPr/>
          <p:nvPr/>
        </p:nvSpPr>
        <p:spPr>
          <a:xfrm>
            <a:off x="6766560" y="1463040"/>
            <a:ext cx="48463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Concepto C de logotipo EuroTex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949440" y="1554480"/>
            <a:ext cx="4480560" cy="1554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766560" y="3337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Tipográfico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logo del concepto web: marca limpia con acento azul en la X.</a:t>
            </a:r>
            <a:endParaRPr lang="en-US" sz="1400" dirty="0"/>
          </a:p>
        </p:txBody>
      </p:sp>
      <p:sp>
        <p:nvSpPr>
          <p:cNvPr id="11" name="Principio de diseño"/>
          <p:cNvSpPr/>
          <p:nvPr/>
        </p:nvSpPr>
        <p:spPr>
          <a:xfrm>
            <a:off x="6766560" y="4251960"/>
            <a:ext cx="4846320" cy="1737360"/>
          </a:xfrm>
          <a:prstGeom prst="roundRect">
            <a:avLst>
              <a:gd name="adj" fmla="val 421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995160" y="43891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perder el enfoque de EuroTex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995160" y="480060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Modernizamos el logotipo cuidando que no pierda su esencia, para que se vea profesional y nítido tanto en formatos digitales como impresos.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Exploraciones iniciales no aprobadas. La renovación de marca es opcional.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 1 · Una imagen unificada, seria y formal</a:t>
            </a:r>
            <a:endParaRPr lang="en-US" sz="3200" dirty="0"/>
          </a:p>
        </p:txBody>
      </p:sp>
      <p:sp>
        <p:nvSpPr>
          <p:cNvPr id="4" name="Colores"/>
          <p:cNvSpPr/>
          <p:nvPr/>
        </p:nvSpPr>
        <p:spPr>
          <a:xfrm>
            <a:off x="548640" y="1508760"/>
            <a:ext cx="3657600" cy="4480560"/>
          </a:xfrm>
          <a:prstGeom prst="roundRect">
            <a:avLst>
              <a:gd name="adj" fmla="val 2000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91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Colores oficiales</a:t>
            </a:r>
            <a:endParaRPr lang="en-US" sz="1800" dirty="0"/>
          </a:p>
        </p:txBody>
      </p:sp>
      <p:sp>
        <p:nvSpPr>
          <p:cNvPr id="6" name="Muestra Azul marino"/>
          <p:cNvSpPr/>
          <p:nvPr/>
        </p:nvSpPr>
        <p:spPr>
          <a:xfrm>
            <a:off x="777240" y="2240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0B2A5B"/>
          </a:solidFill>
          <a:ln w="12700">
            <a:solidFill>
              <a:srgbClr val="27508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691640" y="23134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Azul marino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691640" y="26334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 principal · #0B2A5B</a:t>
            </a:r>
            <a:endParaRPr lang="en-US" sz="1200" dirty="0"/>
          </a:p>
        </p:txBody>
      </p:sp>
      <p:sp>
        <p:nvSpPr>
          <p:cNvPr id="9" name="Muestra Azul acento"/>
          <p:cNvSpPr/>
          <p:nvPr/>
        </p:nvSpPr>
        <p:spPr>
          <a:xfrm>
            <a:off x="777240" y="31546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1E6BFF"/>
          </a:solidFill>
          <a:ln w="12700">
            <a:solidFill>
              <a:srgbClr val="2750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691640" y="32278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Azul acento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691640" y="35478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Botones y detalles · #1E6BFF</a:t>
            </a:r>
            <a:endParaRPr lang="en-US" sz="1200" dirty="0"/>
          </a:p>
        </p:txBody>
      </p:sp>
      <p:sp>
        <p:nvSpPr>
          <p:cNvPr id="12" name="Muestra Gris grafito"/>
          <p:cNvSpPr/>
          <p:nvPr/>
        </p:nvSpPr>
        <p:spPr>
          <a:xfrm>
            <a:off x="777240" y="40690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3B4652"/>
          </a:solidFill>
          <a:ln w="12700">
            <a:solidFill>
              <a:srgbClr val="27508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691640" y="4142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Gris grafito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91640" y="44622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Textos y apoyo · #3B4652</a:t>
            </a:r>
            <a:endParaRPr lang="en-US" sz="1200" dirty="0"/>
          </a:p>
        </p:txBody>
      </p:sp>
      <p:sp>
        <p:nvSpPr>
          <p:cNvPr id="15" name="Muestra Blanco"/>
          <p:cNvSpPr/>
          <p:nvPr/>
        </p:nvSpPr>
        <p:spPr>
          <a:xfrm>
            <a:off x="777240" y="49834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750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691640" y="50566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Blanco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691640" y="53766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Fondos · #FFFFFF</a:t>
            </a:r>
            <a:endParaRPr lang="en-US" sz="1200" dirty="0"/>
          </a:p>
        </p:txBody>
      </p:sp>
      <p:sp>
        <p:nvSpPr>
          <p:cNvPr id="18" name="Tipografías"/>
          <p:cNvSpPr/>
          <p:nvPr/>
        </p:nvSpPr>
        <p:spPr>
          <a:xfrm>
            <a:off x="4434840" y="150876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663440" y="1691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Tipografías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4663440" y="22860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</a:t>
            </a:r>
            <a:endParaRPr lang="en-US" sz="6000" dirty="0"/>
          </a:p>
        </p:txBody>
      </p:sp>
      <p:sp>
        <p:nvSpPr>
          <p:cNvPr id="21" name="Text 18"/>
          <p:cNvSpPr txBox="1"/>
          <p:nvPr/>
        </p:nvSpPr>
        <p:spPr>
          <a:xfrm>
            <a:off x="4663440" y="3337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Títulos: sans-serif geométrica en negritas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663440" y="4114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</a:t>
            </a:r>
            <a:endParaRPr lang="en-US" sz="4000" dirty="0"/>
          </a:p>
        </p:txBody>
      </p:sp>
      <p:sp>
        <p:nvSpPr>
          <p:cNvPr id="23" name="Text 20"/>
          <p:cNvSpPr txBox="1"/>
          <p:nvPr/>
        </p:nvSpPr>
        <p:spPr>
          <a:xfrm>
            <a:off x="4663440" y="48920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Textos: sans-serif legible en pantalla e impresión</a:t>
            </a:r>
            <a:endParaRPr lang="en-US" sz="1400" dirty="0"/>
          </a:p>
        </p:txBody>
      </p:sp>
      <p:sp>
        <p:nvSpPr>
          <p:cNvPr id="24" name="Formatos de uso"/>
          <p:cNvSpPr/>
          <p:nvPr/>
        </p:nvSpPr>
        <p:spPr>
          <a:xfrm>
            <a:off x="8229600" y="1508760"/>
            <a:ext cx="3383280" cy="4480560"/>
          </a:xfrm>
          <a:prstGeom prst="roundRect">
            <a:avLst>
              <a:gd name="adj" fmla="val 2162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58200" y="1691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Formatos de uso</a:t>
            </a:r>
            <a:endParaRPr lang="en-US" sz="1800" dirty="0"/>
          </a:p>
        </p:txBody>
      </p:sp>
      <p:sp>
        <p:nvSpPr>
          <p:cNvPr id="26" name="Etiqueta"/>
          <p:cNvSpPr/>
          <p:nvPr/>
        </p:nvSpPr>
        <p:spPr>
          <a:xfrm>
            <a:off x="8458200" y="2286000"/>
            <a:ext cx="29260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458200" y="22860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Sitio web y favicon</a:t>
            </a:r>
            <a:endParaRPr lang="en-US" sz="1100" dirty="0"/>
          </a:p>
        </p:txBody>
      </p:sp>
      <p:sp>
        <p:nvSpPr>
          <p:cNvPr id="28" name="Etiqueta"/>
          <p:cNvSpPr/>
          <p:nvPr/>
        </p:nvSpPr>
        <p:spPr>
          <a:xfrm>
            <a:off x="8458200" y="2852928"/>
            <a:ext cx="29260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458200" y="285292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Cotizaciones en PDF</a:t>
            </a:r>
            <a:endParaRPr lang="en-US" sz="1100" dirty="0"/>
          </a:p>
        </p:txBody>
      </p:sp>
      <p:sp>
        <p:nvSpPr>
          <p:cNvPr id="30" name="Etiqueta"/>
          <p:cNvSpPr/>
          <p:nvPr/>
        </p:nvSpPr>
        <p:spPr>
          <a:xfrm>
            <a:off x="8458200" y="3419856"/>
            <a:ext cx="29260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4198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 de correo</a:t>
            </a:r>
            <a:endParaRPr lang="en-US" sz="1100" dirty="0"/>
          </a:p>
        </p:txBody>
      </p:sp>
      <p:sp>
        <p:nvSpPr>
          <p:cNvPr id="32" name="Etiqueta"/>
          <p:cNvSpPr/>
          <p:nvPr/>
        </p:nvSpPr>
        <p:spPr>
          <a:xfrm>
            <a:off x="8458200" y="3986784"/>
            <a:ext cx="29260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45820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de WhatsApp Business</a:t>
            </a:r>
            <a:endParaRPr lang="en-US" sz="1100" dirty="0"/>
          </a:p>
        </p:txBody>
      </p:sp>
      <p:sp>
        <p:nvSpPr>
          <p:cNvPr id="34" name="Etiqueta"/>
          <p:cNvSpPr/>
          <p:nvPr/>
        </p:nvSpPr>
        <p:spPr>
          <a:xfrm>
            <a:off x="8458200" y="4553712"/>
            <a:ext cx="29260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45537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Presentaciones</a:t>
            </a:r>
            <a:endParaRPr lang="en-US" sz="1100" dirty="0"/>
          </a:p>
        </p:txBody>
      </p:sp>
      <p:sp>
        <p:nvSpPr>
          <p:cNvPr id="36" name="Etiqueta"/>
          <p:cNvSpPr/>
          <p:nvPr/>
        </p:nvSpPr>
        <p:spPr>
          <a:xfrm>
            <a:off x="8458200" y="5120640"/>
            <a:ext cx="29260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458200" y="51206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Papelería e impresos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Paleta y tipografías: propuesta preliminar; se aprueban en la fase de marca.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 2 · Un sitio que presenta y vende</a:t>
            </a:r>
            <a:endParaRPr lang="en-US" sz="3200" dirty="0"/>
          </a:p>
        </p:txBody>
      </p:sp>
      <p:pic>
        <p:nvPicPr>
          <p:cNvPr id="4" name="Image 0" descr="Concepto visual de la página de inicio de EuroT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7315200" cy="4114800"/>
          </a:xfrm>
          <a:prstGeom prst="rect">
            <a:avLst/>
          </a:prstGeom>
        </p:spPr>
      </p:pic>
      <p:sp>
        <p:nvSpPr>
          <p:cNvPr id="5" name="Punto 1"/>
          <p:cNvSpPr/>
          <p:nvPr/>
        </p:nvSpPr>
        <p:spPr>
          <a:xfrm>
            <a:off x="8138160" y="1508760"/>
            <a:ext cx="3474720" cy="1280160"/>
          </a:xfrm>
          <a:prstGeom prst="roundRect">
            <a:avLst>
              <a:gd name="adj" fmla="val 5714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32104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 claro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8321040" y="20116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de valor y botón de cotización desde el primer vistazo.</a:t>
            </a:r>
            <a:endParaRPr lang="en-US" sz="1300" dirty="0"/>
          </a:p>
        </p:txBody>
      </p:sp>
      <p:sp>
        <p:nvSpPr>
          <p:cNvPr id="8" name="Punto 2"/>
          <p:cNvSpPr/>
          <p:nvPr/>
        </p:nvSpPr>
        <p:spPr>
          <a:xfrm>
            <a:off x="8138160" y="2926080"/>
            <a:ext cx="3474720" cy="1280160"/>
          </a:xfrm>
          <a:prstGeom prst="roundRect">
            <a:avLst>
              <a:gd name="adj" fmla="val 5714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32104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Líneas visibles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321040" y="3429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Hilatura, Non Woven, Teñido y acabado y Laboratorio, a un clic.</a:t>
            </a:r>
            <a:endParaRPr lang="en-US" sz="1300" dirty="0"/>
          </a:p>
        </p:txBody>
      </p:sp>
      <p:sp>
        <p:nvSpPr>
          <p:cNvPr id="11" name="Punto 3"/>
          <p:cNvSpPr/>
          <p:nvPr/>
        </p:nvSpPr>
        <p:spPr>
          <a:xfrm>
            <a:off x="8138160" y="4343400"/>
            <a:ext cx="3474720" cy="1280160"/>
          </a:xfrm>
          <a:prstGeom prst="roundRect">
            <a:avLst>
              <a:gd name="adj" fmla="val 5714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321040" y="44805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Navegación simple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321040" y="48463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Productos, servicios, nosotros y contacto, sin rodeos.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Concepto visual de inicio. Diseño y contenidos por validar con EuroTex.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 2 · Un portal completamente responsivo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00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463040" y="160020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Menú compacto y ordenado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21031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Opciones legibles y controles fáciles de usar con el pulgar.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0632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30632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adapta a cada pantalla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356616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Textos, imágenes y formularios sin cortes ni desbordamientos.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5262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45262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Probado antes de lanzar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502920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Navegación y cotización validadas en celular, tablet y computadora.</a:t>
            </a:r>
            <a:endParaRPr lang="en-US" sz="1500" dirty="0"/>
          </a:p>
        </p:txBody>
      </p:sp>
      <p:pic>
        <p:nvPicPr>
          <p:cNvPr id="13" name="Image 0" descr="Propuesta visual del menú en celul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1371600"/>
            <a:ext cx="2651760" cy="47091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visual para móvil.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 2 · Catálogo de marcas representadas</a:t>
            </a:r>
            <a:endParaRPr lang="en-US" sz="3200" dirty="0"/>
          </a:p>
        </p:txBody>
      </p:sp>
      <p:sp>
        <p:nvSpPr>
          <p:cNvPr id="4" name="Marca Rieter"/>
          <p:cNvSpPr/>
          <p:nvPr/>
        </p:nvSpPr>
        <p:spPr>
          <a:xfrm>
            <a:off x="548640" y="1508760"/>
            <a:ext cx="3547872" cy="2103120"/>
          </a:xfrm>
          <a:prstGeom prst="roundRect">
            <a:avLst>
              <a:gd name="adj" fmla="val 3478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9164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Rieter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28600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Hilatura</a:t>
            </a:r>
            <a:endParaRPr lang="en-US" sz="1400" dirty="0"/>
          </a:p>
        </p:txBody>
      </p:sp>
      <p:sp>
        <p:nvSpPr>
          <p:cNvPr id="7" name="Etiqueta"/>
          <p:cNvSpPr/>
          <p:nvPr/>
        </p:nvSpPr>
        <p:spPr>
          <a:xfrm>
            <a:off x="822960" y="278892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27889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Refacciones</a:t>
            </a:r>
            <a:endParaRPr lang="en-US" sz="1100" dirty="0"/>
          </a:p>
        </p:txBody>
      </p:sp>
      <p:sp>
        <p:nvSpPr>
          <p:cNvPr id="9" name="Etiqueta"/>
          <p:cNvSpPr/>
          <p:nvPr/>
        </p:nvSpPr>
        <p:spPr>
          <a:xfrm>
            <a:off x="2011680" y="27889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011680" y="27889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 técnico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20040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Cotizar esta marca →</a:t>
            </a:r>
            <a:endParaRPr lang="en-US" sz="1200" dirty="0"/>
          </a:p>
        </p:txBody>
      </p:sp>
      <p:sp>
        <p:nvSpPr>
          <p:cNvPr id="12" name="Marca Datacolor"/>
          <p:cNvSpPr/>
          <p:nvPr/>
        </p:nvSpPr>
        <p:spPr>
          <a:xfrm>
            <a:off x="4325112" y="1508760"/>
            <a:ext cx="3547872" cy="2103120"/>
          </a:xfrm>
          <a:prstGeom prst="roundRect">
            <a:avLst>
              <a:gd name="adj" fmla="val 3478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99432" y="169164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Datacolor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4599432" y="228600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Laboratorio y color</a:t>
            </a:r>
            <a:endParaRPr lang="en-US" sz="1400" dirty="0"/>
          </a:p>
        </p:txBody>
      </p:sp>
      <p:sp>
        <p:nvSpPr>
          <p:cNvPr id="15" name="Etiqueta"/>
          <p:cNvSpPr/>
          <p:nvPr/>
        </p:nvSpPr>
        <p:spPr>
          <a:xfrm>
            <a:off x="4599432" y="278892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99432" y="27889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Refacciones</a:t>
            </a:r>
            <a:endParaRPr lang="en-US" sz="1100" dirty="0"/>
          </a:p>
        </p:txBody>
      </p:sp>
      <p:sp>
        <p:nvSpPr>
          <p:cNvPr id="17" name="Etiqueta"/>
          <p:cNvSpPr/>
          <p:nvPr/>
        </p:nvSpPr>
        <p:spPr>
          <a:xfrm>
            <a:off x="5788152" y="27889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88152" y="27889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 técnico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599432" y="320040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Cotizar esta marca →</a:t>
            </a:r>
            <a:endParaRPr lang="en-US" sz="1200" dirty="0"/>
          </a:p>
        </p:txBody>
      </p:sp>
      <p:sp>
        <p:nvSpPr>
          <p:cNvPr id="20" name="Marca Graf"/>
          <p:cNvSpPr/>
          <p:nvPr/>
        </p:nvSpPr>
        <p:spPr>
          <a:xfrm>
            <a:off x="8101584" y="1508760"/>
            <a:ext cx="3547872" cy="2103120"/>
          </a:xfrm>
          <a:prstGeom prst="roundRect">
            <a:avLst>
              <a:gd name="adj" fmla="val 3478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375904" y="169164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8375904" y="228600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Hilatura</a:t>
            </a:r>
            <a:endParaRPr lang="en-US" sz="1400" dirty="0"/>
          </a:p>
        </p:txBody>
      </p:sp>
      <p:sp>
        <p:nvSpPr>
          <p:cNvPr id="23" name="Etiqueta"/>
          <p:cNvSpPr/>
          <p:nvPr/>
        </p:nvSpPr>
        <p:spPr>
          <a:xfrm>
            <a:off x="8375904" y="278892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375904" y="27889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Refacciones</a:t>
            </a:r>
            <a:endParaRPr lang="en-US" sz="1100" dirty="0"/>
          </a:p>
        </p:txBody>
      </p:sp>
      <p:sp>
        <p:nvSpPr>
          <p:cNvPr id="25" name="Etiqueta"/>
          <p:cNvSpPr/>
          <p:nvPr/>
        </p:nvSpPr>
        <p:spPr>
          <a:xfrm>
            <a:off x="9564624" y="27889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564624" y="27889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 técnico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375904" y="320040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Cotizar esta marca →</a:t>
            </a:r>
            <a:endParaRPr lang="en-US" sz="1200" dirty="0"/>
          </a:p>
        </p:txBody>
      </p:sp>
      <p:sp>
        <p:nvSpPr>
          <p:cNvPr id="28" name="Marca Fong's"/>
          <p:cNvSpPr/>
          <p:nvPr/>
        </p:nvSpPr>
        <p:spPr>
          <a:xfrm>
            <a:off x="548640" y="3840480"/>
            <a:ext cx="3547872" cy="2103120"/>
          </a:xfrm>
          <a:prstGeom prst="roundRect">
            <a:avLst>
              <a:gd name="adj" fmla="val 3478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402336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Fong's</a:t>
            </a:r>
            <a:endParaRPr lang="en-US" sz="2600" dirty="0"/>
          </a:p>
        </p:txBody>
      </p:sp>
      <p:sp>
        <p:nvSpPr>
          <p:cNvPr id="30" name="Text 27"/>
          <p:cNvSpPr txBox="1"/>
          <p:nvPr/>
        </p:nvSpPr>
        <p:spPr>
          <a:xfrm>
            <a:off x="822960" y="461772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Teñido y acabado</a:t>
            </a:r>
            <a:endParaRPr lang="en-US" sz="1400" dirty="0"/>
          </a:p>
        </p:txBody>
      </p:sp>
      <p:sp>
        <p:nvSpPr>
          <p:cNvPr id="31" name="Etiqueta"/>
          <p:cNvSpPr/>
          <p:nvPr/>
        </p:nvSpPr>
        <p:spPr>
          <a:xfrm>
            <a:off x="822960" y="512064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1206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Refacciones</a:t>
            </a:r>
            <a:endParaRPr lang="en-US" sz="1100" dirty="0"/>
          </a:p>
        </p:txBody>
      </p:sp>
      <p:sp>
        <p:nvSpPr>
          <p:cNvPr id="33" name="Etiqueta"/>
          <p:cNvSpPr/>
          <p:nvPr/>
        </p:nvSpPr>
        <p:spPr>
          <a:xfrm>
            <a:off x="2011680" y="512064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1168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 técnico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822960" y="553212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Cotizar esta marca →</a:t>
            </a:r>
            <a:endParaRPr lang="en-US" sz="1200" dirty="0"/>
          </a:p>
        </p:txBody>
      </p:sp>
      <p:sp>
        <p:nvSpPr>
          <p:cNvPr id="36" name="Marca SSM"/>
          <p:cNvSpPr/>
          <p:nvPr/>
        </p:nvSpPr>
        <p:spPr>
          <a:xfrm>
            <a:off x="4325112" y="3840480"/>
            <a:ext cx="3547872" cy="2103120"/>
          </a:xfrm>
          <a:prstGeom prst="roundRect">
            <a:avLst>
              <a:gd name="adj" fmla="val 3478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599432" y="402336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SSM</a:t>
            </a:r>
            <a:endParaRPr lang="en-US" sz="2600" dirty="0"/>
          </a:p>
        </p:txBody>
      </p:sp>
      <p:sp>
        <p:nvSpPr>
          <p:cNvPr id="38" name="Text 35"/>
          <p:cNvSpPr txBox="1"/>
          <p:nvPr/>
        </p:nvSpPr>
        <p:spPr>
          <a:xfrm>
            <a:off x="4599432" y="461772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Hilatura</a:t>
            </a:r>
            <a:endParaRPr lang="en-US" sz="1400" dirty="0"/>
          </a:p>
        </p:txBody>
      </p:sp>
      <p:sp>
        <p:nvSpPr>
          <p:cNvPr id="39" name="Etiqueta"/>
          <p:cNvSpPr/>
          <p:nvPr/>
        </p:nvSpPr>
        <p:spPr>
          <a:xfrm>
            <a:off x="4599432" y="512064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599432" y="51206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Refacciones</a:t>
            </a:r>
            <a:endParaRPr lang="en-US" sz="1100" dirty="0"/>
          </a:p>
        </p:txBody>
      </p:sp>
      <p:sp>
        <p:nvSpPr>
          <p:cNvPr id="41" name="Etiqueta"/>
          <p:cNvSpPr/>
          <p:nvPr/>
        </p:nvSpPr>
        <p:spPr>
          <a:xfrm>
            <a:off x="5788152" y="512064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788152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 técnico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99432" y="553212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Cotizar esta marca →</a:t>
            </a:r>
            <a:endParaRPr lang="en-US" sz="1200" dirty="0"/>
          </a:p>
        </p:txBody>
      </p:sp>
      <p:sp>
        <p:nvSpPr>
          <p:cNvPr id="44" name="Marca Arosa"/>
          <p:cNvSpPr/>
          <p:nvPr/>
        </p:nvSpPr>
        <p:spPr>
          <a:xfrm>
            <a:off x="8101584" y="3840480"/>
            <a:ext cx="3547872" cy="2103120"/>
          </a:xfrm>
          <a:prstGeom prst="roundRect">
            <a:avLst>
              <a:gd name="adj" fmla="val 3478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375904" y="402336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Arosa</a:t>
            </a:r>
            <a:endParaRPr lang="en-US" sz="2600" dirty="0"/>
          </a:p>
        </p:txBody>
      </p:sp>
      <p:sp>
        <p:nvSpPr>
          <p:cNvPr id="46" name="Text 43"/>
          <p:cNvSpPr txBox="1"/>
          <p:nvPr/>
        </p:nvSpPr>
        <p:spPr>
          <a:xfrm>
            <a:off x="8375904" y="461772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confirmar</a:t>
            </a:r>
            <a:endParaRPr lang="en-US" sz="1400" dirty="0"/>
          </a:p>
        </p:txBody>
      </p:sp>
      <p:sp>
        <p:nvSpPr>
          <p:cNvPr id="47" name="Etiqueta"/>
          <p:cNvSpPr/>
          <p:nvPr/>
        </p:nvSpPr>
        <p:spPr>
          <a:xfrm>
            <a:off x="8375904" y="512064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375904" y="51206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Refacciones</a:t>
            </a:r>
            <a:endParaRPr lang="en-US" sz="1100" dirty="0"/>
          </a:p>
        </p:txBody>
      </p:sp>
      <p:sp>
        <p:nvSpPr>
          <p:cNvPr id="49" name="Etiqueta"/>
          <p:cNvSpPr/>
          <p:nvPr/>
        </p:nvSpPr>
        <p:spPr>
          <a:xfrm>
            <a:off x="9564624" y="512064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564624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 técnico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8375904" y="553212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Cotizar esta marca →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Categorías y servicios por validar con EuroTex. Logotipos oficiales de las marcas por incorporar.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 3 · Contacto inmediato, en un solo clic</a:t>
            </a:r>
            <a:endParaRPr lang="en-US" sz="3200" dirty="0"/>
          </a:p>
        </p:txBody>
      </p:sp>
      <p:sp>
        <p:nvSpPr>
          <p:cNvPr id="4" name="Icono fondo"/>
          <p:cNvSpPr/>
          <p:nvPr/>
        </p:nvSpPr>
        <p:spPr>
          <a:xfrm>
            <a:off x="548640" y="1554480"/>
            <a:ext cx="731520" cy="731520"/>
          </a:xfrm>
          <a:prstGeom prst="ellipse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pic>
        <p:nvPicPr>
          <p:cNvPr id="5" name="Image 0" descr="ico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37360"/>
            <a:ext cx="365760" cy="365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1554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Botón de WhatsApp Business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1508760" y="20116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en todo el sitio; abre la conversación con el producto o la marca ya indicados.</a:t>
            </a:r>
            <a:endParaRPr lang="en-US" sz="1400" dirty="0"/>
          </a:p>
        </p:txBody>
      </p:sp>
      <p:sp>
        <p:nvSpPr>
          <p:cNvPr id="8" name="Icono fondo"/>
          <p:cNvSpPr/>
          <p:nvPr/>
        </p:nvSpPr>
        <p:spPr>
          <a:xfrm>
            <a:off x="548640" y="3063240"/>
            <a:ext cx="731520" cy="73152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9" name="Image 1" descr="icon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246120"/>
            <a:ext cx="365760" cy="365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08760" y="3063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Formularios automáticos en español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1508760" y="3520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Piden solo los datos útiles para ventas y llegan directo a su equipo.</a:t>
            </a:r>
            <a:endParaRPr lang="en-US" sz="1400" dirty="0"/>
          </a:p>
        </p:txBody>
      </p:sp>
      <p:sp>
        <p:nvSpPr>
          <p:cNvPr id="12" name="Icono fondo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13" name="Image 2" descr="icon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754880"/>
            <a:ext cx="365760" cy="3657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508760" y="45720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Cotización y servicio técnico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1508760" y="50292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rutas claras: pedir precio o solicitar atención técnica.</a:t>
            </a:r>
            <a:endParaRPr lang="en-US" sz="1400" dirty="0"/>
          </a:p>
        </p:txBody>
      </p:sp>
      <p:sp>
        <p:nvSpPr>
          <p:cNvPr id="16" name="Teléfono"/>
          <p:cNvSpPr/>
          <p:nvPr/>
        </p:nvSpPr>
        <p:spPr>
          <a:xfrm>
            <a:off x="7406640" y="1371600"/>
            <a:ext cx="3840480" cy="4754880"/>
          </a:xfrm>
          <a:prstGeom prst="roundRect">
            <a:avLst>
              <a:gd name="adj" fmla="val 4762"/>
            </a:avLst>
          </a:prstGeom>
          <a:solidFill>
            <a:srgbClr val="0B141F"/>
          </a:solidFill>
          <a:ln w="19050">
            <a:solidFill>
              <a:srgbClr val="27508F"/>
            </a:solidFill>
            <a:prstDash val="solid"/>
          </a:ln>
        </p:spPr>
      </p:sp>
      <p:sp>
        <p:nvSpPr>
          <p:cNvPr id="17" name="Encabezado chat"/>
          <p:cNvSpPr/>
          <p:nvPr/>
        </p:nvSpPr>
        <p:spPr>
          <a:xfrm>
            <a:off x="7589520" y="1554480"/>
            <a:ext cx="3474720" cy="685800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0" y="155448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EuroTex · WhatsApp Business</a:t>
            </a:r>
            <a:endParaRPr lang="en-US" sz="1400" dirty="0"/>
          </a:p>
        </p:txBody>
      </p:sp>
      <p:sp>
        <p:nvSpPr>
          <p:cNvPr id="19" name="Mensaje"/>
          <p:cNvSpPr/>
          <p:nvPr/>
        </p:nvSpPr>
        <p:spPr>
          <a:xfrm>
            <a:off x="8412480" y="2468880"/>
            <a:ext cx="2560320" cy="777240"/>
          </a:xfrm>
          <a:prstGeom prst="roundRect">
            <a:avLst>
              <a:gd name="adj" fmla="val 14118"/>
            </a:avLst>
          </a:prstGeom>
          <a:solidFill>
            <a:srgbClr val="DCF8C6"/>
          </a:solidFill>
          <a:ln w="12700">
            <a:solidFill>
              <a:srgbClr val="DCF8C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522208" y="2468880"/>
            <a:ext cx="234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Hola, necesito cotizar refacciones para una máquina de hilatura.</a:t>
            </a:r>
            <a:endParaRPr lang="en-US" sz="1200" dirty="0"/>
          </a:p>
        </p:txBody>
      </p:sp>
      <p:sp>
        <p:nvSpPr>
          <p:cNvPr id="21" name="Mensaje"/>
          <p:cNvSpPr/>
          <p:nvPr/>
        </p:nvSpPr>
        <p:spPr>
          <a:xfrm>
            <a:off x="7680960" y="342900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F2C34"/>
          </a:solidFill>
          <a:ln w="12700">
            <a:solidFill>
              <a:srgbClr val="1F2C34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790688" y="3429000"/>
            <a:ext cx="2432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¡Hola! Con gusto te ayudamos. ¿Qué marca y modelo de máquina tienes?</a:t>
            </a:r>
            <a:endParaRPr lang="en-US" sz="1200" dirty="0"/>
          </a:p>
        </p:txBody>
      </p:sp>
      <p:sp>
        <p:nvSpPr>
          <p:cNvPr id="23" name="Mensaje"/>
          <p:cNvSpPr/>
          <p:nvPr/>
        </p:nvSpPr>
        <p:spPr>
          <a:xfrm>
            <a:off x="8595360" y="438912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DCF8C6"/>
          </a:solidFill>
          <a:ln w="12700">
            <a:solidFill>
              <a:srgbClr val="DCF8C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705088" y="438912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Rieter, modelo por confirmar.</a:t>
            </a:r>
            <a:endParaRPr lang="en-US" sz="1200" dirty="0"/>
          </a:p>
        </p:txBody>
      </p:sp>
      <p:sp>
        <p:nvSpPr>
          <p:cNvPr id="25" name="Mensaje"/>
          <p:cNvSpPr/>
          <p:nvPr/>
        </p:nvSpPr>
        <p:spPr>
          <a:xfrm>
            <a:off x="7680960" y="5120640"/>
            <a:ext cx="2651760" cy="640080"/>
          </a:xfrm>
          <a:prstGeom prst="roundRect">
            <a:avLst>
              <a:gd name="adj" fmla="val 17143"/>
            </a:avLst>
          </a:prstGeom>
          <a:solidFill>
            <a:srgbClr val="1F2C34"/>
          </a:solidFill>
          <a:ln w="12700">
            <a:solidFill>
              <a:srgbClr val="1F2C34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790688" y="5120640"/>
            <a:ext cx="2432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Perfecto. Un asesor te envía la cotización hoy.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Ilustración conceptual. Números, horarios y responsables se definen en el levantamiento.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 3 · Prospección digital de nuevos clientes</a:t>
            </a:r>
            <a:endParaRPr lang="en-US" sz="3200" dirty="0"/>
          </a:p>
        </p:txBody>
      </p:sp>
      <p:sp>
        <p:nvSpPr>
          <p:cNvPr id="4" name="Paso 1"/>
          <p:cNvSpPr/>
          <p:nvPr/>
        </p:nvSpPr>
        <p:spPr>
          <a:xfrm>
            <a:off x="548640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5" name="Icono fondo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6" name="Image 0" descr="ico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297430"/>
            <a:ext cx="388620" cy="3886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el perfil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7947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Textileras y empresas del sector en México que usan maquinaria de las marcas representadas.</a:t>
            </a:r>
            <a:endParaRPr lang="en-US" sz="1300" dirty="0"/>
          </a:p>
        </p:txBody>
      </p:sp>
      <p:sp>
        <p:nvSpPr>
          <p:cNvPr id="10" name="Flecha"/>
          <p:cNvSpPr/>
          <p:nvPr/>
        </p:nvSpPr>
        <p:spPr>
          <a:xfrm>
            <a:off x="3127248" y="3337560"/>
            <a:ext cx="246888" cy="274320"/>
          </a:xfrm>
          <a:prstGeom prst="rightArrow">
            <a:avLst/>
          </a:prstGeom>
          <a:solidFill>
            <a:srgbClr val="47CDFF"/>
          </a:solidFill>
          <a:ln w="12700">
            <a:solidFill>
              <a:srgbClr val="47CDFF"/>
            </a:solidFill>
            <a:prstDash val="solid"/>
          </a:ln>
        </p:spPr>
      </p:sp>
      <p:sp>
        <p:nvSpPr>
          <p:cNvPr id="11" name="Paso 2"/>
          <p:cNvSpPr/>
          <p:nvPr/>
        </p:nvSpPr>
        <p:spPr>
          <a:xfrm>
            <a:off x="3392424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2" name="Icono fondo"/>
          <p:cNvSpPr/>
          <p:nvPr/>
        </p:nvSpPr>
        <p:spPr>
          <a:xfrm>
            <a:off x="3666744" y="2103120"/>
            <a:ext cx="777240" cy="77724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13" name="Image 1" descr="icon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1054" y="2297430"/>
            <a:ext cx="388620" cy="3886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66744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3666744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Buscar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3666744" y="37947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y redes profesionales para identificar empresas y áreas de compra.</a:t>
            </a:r>
            <a:endParaRPr lang="en-US" sz="1300" dirty="0"/>
          </a:p>
        </p:txBody>
      </p:sp>
      <p:sp>
        <p:nvSpPr>
          <p:cNvPr id="17" name="Flecha"/>
          <p:cNvSpPr/>
          <p:nvPr/>
        </p:nvSpPr>
        <p:spPr>
          <a:xfrm>
            <a:off x="5971032" y="3337560"/>
            <a:ext cx="246888" cy="274320"/>
          </a:xfrm>
          <a:prstGeom prst="rightArrow">
            <a:avLst/>
          </a:prstGeom>
          <a:solidFill>
            <a:srgbClr val="47CDFF"/>
          </a:solidFill>
          <a:ln w="12700">
            <a:solidFill>
              <a:srgbClr val="47CDFF"/>
            </a:solidFill>
            <a:prstDash val="solid"/>
          </a:ln>
        </p:spPr>
      </p:sp>
      <p:sp>
        <p:nvSpPr>
          <p:cNvPr id="18" name="Paso 3"/>
          <p:cNvSpPr/>
          <p:nvPr/>
        </p:nvSpPr>
        <p:spPr>
          <a:xfrm>
            <a:off x="6236208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9" name="Icono fondo"/>
          <p:cNvSpPr/>
          <p:nvPr/>
        </p:nvSpPr>
        <p:spPr>
          <a:xfrm>
            <a:off x="6510528" y="2103120"/>
            <a:ext cx="777240" cy="77724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20" name="Image 2" descr="icon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4838" y="2297430"/>
            <a:ext cx="388620" cy="3886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510528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510528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Armar la base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6510528" y="37947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Empresa, ubicación, línea de interés y contacto, ordenados para ventas.</a:t>
            </a:r>
            <a:endParaRPr lang="en-US" sz="1300" dirty="0"/>
          </a:p>
        </p:txBody>
      </p:sp>
      <p:sp>
        <p:nvSpPr>
          <p:cNvPr id="24" name="Flecha"/>
          <p:cNvSpPr/>
          <p:nvPr/>
        </p:nvSpPr>
        <p:spPr>
          <a:xfrm>
            <a:off x="8814816" y="3337560"/>
            <a:ext cx="246888" cy="274320"/>
          </a:xfrm>
          <a:prstGeom prst="rightArrow">
            <a:avLst/>
          </a:prstGeom>
          <a:solidFill>
            <a:srgbClr val="47CDFF"/>
          </a:solidFill>
          <a:ln w="12700">
            <a:solidFill>
              <a:srgbClr val="47CDFF"/>
            </a:solidFill>
            <a:prstDash val="solid"/>
          </a:ln>
        </p:spPr>
      </p:sp>
      <p:sp>
        <p:nvSpPr>
          <p:cNvPr id="25" name="Paso 4"/>
          <p:cNvSpPr/>
          <p:nvPr/>
        </p:nvSpPr>
        <p:spPr>
          <a:xfrm>
            <a:off x="9079992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26" name="Icono fondo"/>
          <p:cNvSpPr/>
          <p:nvPr/>
        </p:nvSpPr>
        <p:spPr>
          <a:xfrm>
            <a:off x="9354312" y="2103120"/>
            <a:ext cx="777240" cy="77724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27" name="Image 3" descr="icon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8622" y="2297430"/>
            <a:ext cx="388620" cy="3886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354312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4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9354312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Contactar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9354312" y="37947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 acercamiento y seguimiento con WhatsApp y formularios del nuevo sitio.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 documentado y base de datos de clientes potenciales en México.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usa información pública. No se prometen volumen de prospectos ni cierres.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primera impresión de EuroTex en internet</a:t>
            </a:r>
            <a:endParaRPr lang="en-US" sz="3200" dirty="0"/>
          </a:p>
        </p:txBody>
      </p:sp>
      <p:sp>
        <p:nvSpPr>
          <p:cNvPr id="4" name="Hoy"/>
          <p:cNvSpPr/>
          <p:nvPr/>
        </p:nvSpPr>
        <p:spPr>
          <a:xfrm>
            <a:off x="548640" y="1554480"/>
            <a:ext cx="5212080" cy="3840480"/>
          </a:xfrm>
          <a:prstGeom prst="roundRect">
            <a:avLst>
              <a:gd name="adj" fmla="val 1905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24028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Testimonios y textos de ejemplo (lorem ipsum)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Formulario y pie de página en inglés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Menú difícil de usar en celular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sin una vista por marca</a:t>
            </a:r>
            <a:endParaRPr lang="en-US" sz="1600" dirty="0"/>
          </a:p>
        </p:txBody>
      </p:sp>
      <p:sp>
        <p:nvSpPr>
          <p:cNvPr id="7" name="Flecha"/>
          <p:cNvSpPr/>
          <p:nvPr/>
        </p:nvSpPr>
        <p:spPr>
          <a:xfrm>
            <a:off x="5852160" y="3246120"/>
            <a:ext cx="457200" cy="457200"/>
          </a:xfrm>
          <a:prstGeom prst="rightArrow">
            <a:avLst/>
          </a:prstGeom>
          <a:solidFill>
            <a:srgbClr val="47CDFF"/>
          </a:solidFill>
          <a:ln w="12700">
            <a:solidFill>
              <a:srgbClr val="47CDFF"/>
            </a:solidFill>
            <a:prstDash val="solid"/>
          </a:ln>
        </p:spPr>
      </p:sp>
      <p:sp>
        <p:nvSpPr>
          <p:cNvPr id="8" name="Con la propuesta"/>
          <p:cNvSpPr/>
          <p:nvPr/>
        </p:nvSpPr>
        <p:spPr>
          <a:xfrm>
            <a:off x="6400800" y="1554480"/>
            <a:ext cx="5212080" cy="3840480"/>
          </a:xfrm>
          <a:prstGeom prst="roundRect">
            <a:avLst>
              <a:gd name="adj" fmla="val 1905"/>
            </a:avLst>
          </a:prstGeom>
          <a:solidFill>
            <a:srgbClr val="2F6BFF">
              <a:alpha val="40000"/>
            </a:srgbClr>
          </a:solidFill>
          <a:ln w="15875">
            <a:solidFill>
              <a:srgbClr val="47CD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7512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LA PROPUESTA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675120" y="224028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Moderna: marca renovada y sitio 100% en español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Tecnológica: catálogo claro y cotización en un clic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 del mercado: casos reales y marcas a la vista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Atención rápida: WhatsApp y formularios directos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Columna «Hoy»: revisión de contenido público, 6 de octubre de 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allá de la web: módulos a la medida</a:t>
            </a:r>
            <a:endParaRPr lang="en-US" sz="3200" dirty="0"/>
          </a:p>
        </p:txBody>
      </p:sp>
      <p:sp>
        <p:nvSpPr>
          <p:cNvPr id="4" name="Módulo 1"/>
          <p:cNvSpPr/>
          <p:nvPr/>
        </p:nvSpPr>
        <p:spPr>
          <a:xfrm>
            <a:off x="548640" y="1508760"/>
            <a:ext cx="3108960" cy="1965960"/>
          </a:xfrm>
          <a:prstGeom prst="roundRect">
            <a:avLst>
              <a:gd name="adj" fmla="val 372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5" name="Icono fondo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6" name="Image 0" descr="ico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885950"/>
            <a:ext cx="297180" cy="2971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173736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desde cero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688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Prospectos, oportunidades, cotizaciones y tareas según su proceso comercial.</a:t>
            </a:r>
            <a:endParaRPr lang="en-US" sz="1300" dirty="0"/>
          </a:p>
        </p:txBody>
      </p:sp>
      <p:sp>
        <p:nvSpPr>
          <p:cNvPr id="9" name="Módulo 2"/>
          <p:cNvSpPr/>
          <p:nvPr/>
        </p:nvSpPr>
        <p:spPr>
          <a:xfrm>
            <a:off x="3794760" y="1508760"/>
            <a:ext cx="3108960" cy="1965960"/>
          </a:xfrm>
          <a:prstGeom prst="roundRect">
            <a:avLst>
              <a:gd name="adj" fmla="val 372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0" name="Icono fondo"/>
          <p:cNvSpPr/>
          <p:nvPr/>
        </p:nvSpPr>
        <p:spPr>
          <a:xfrm>
            <a:off x="4023360" y="1737360"/>
            <a:ext cx="594360" cy="59436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11" name="Image 1" descr="icon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950" y="1885950"/>
            <a:ext cx="297180" cy="2971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754880" y="173736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Portales web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4023360" y="24688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o distribuidores con acceso a documentos, solicitudes y seguimiento.</a:t>
            </a:r>
            <a:endParaRPr lang="en-US" sz="1300" dirty="0"/>
          </a:p>
        </p:txBody>
      </p:sp>
      <p:sp>
        <p:nvSpPr>
          <p:cNvPr id="14" name="Módulo 3"/>
          <p:cNvSpPr/>
          <p:nvPr/>
        </p:nvSpPr>
        <p:spPr>
          <a:xfrm>
            <a:off x="548640" y="3657600"/>
            <a:ext cx="3108960" cy="1965960"/>
          </a:xfrm>
          <a:prstGeom prst="roundRect">
            <a:avLst>
              <a:gd name="adj" fmla="val 372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5" name="Icono fondo"/>
          <p:cNvSpPr/>
          <p:nvPr/>
        </p:nvSpPr>
        <p:spPr>
          <a:xfrm>
            <a:off x="777240" y="3886200"/>
            <a:ext cx="594360" cy="59436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16" name="Image 2" descr="icon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4034790"/>
            <a:ext cx="297180" cy="2971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08760" y="38862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Automatización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777240" y="46177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Flujos propios para reducir captura repetida y trabajo manual.</a:t>
            </a:r>
            <a:endParaRPr lang="en-US" sz="1300" dirty="0"/>
          </a:p>
        </p:txBody>
      </p:sp>
      <p:sp>
        <p:nvSpPr>
          <p:cNvPr id="19" name="Módulo 4"/>
          <p:cNvSpPr/>
          <p:nvPr/>
        </p:nvSpPr>
        <p:spPr>
          <a:xfrm>
            <a:off x="3794760" y="3657600"/>
            <a:ext cx="3108960" cy="1965960"/>
          </a:xfrm>
          <a:prstGeom prst="roundRect">
            <a:avLst>
              <a:gd name="adj" fmla="val 372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20" name="Icono fondo"/>
          <p:cNvSpPr/>
          <p:nvPr/>
        </p:nvSpPr>
        <p:spPr>
          <a:xfrm>
            <a:off x="4023360" y="3886200"/>
            <a:ext cx="594360" cy="59436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21" name="Image 3" descr="icon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1950" y="4034790"/>
            <a:ext cx="297180" cy="2971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754880" y="38862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Integraciones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4023360" y="46177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Conexión con ERP, plataformas y servicios externos, según sus accesos.</a:t>
            </a:r>
            <a:endParaRPr lang="en-US" sz="1300" dirty="0"/>
          </a:p>
        </p:txBody>
      </p:sp>
      <p:sp>
        <p:nvSpPr>
          <p:cNvPr id="24" name="Inteligencia de negocio"/>
          <p:cNvSpPr/>
          <p:nvPr/>
        </p:nvSpPr>
        <p:spPr>
          <a:xfrm>
            <a:off x="7223760" y="1508760"/>
            <a:ext cx="4389120" cy="4114800"/>
          </a:xfrm>
          <a:prstGeom prst="roundRect">
            <a:avLst>
              <a:gd name="adj" fmla="val 1778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25" name="Icono fondo"/>
          <p:cNvSpPr/>
          <p:nvPr/>
        </p:nvSpPr>
        <p:spPr>
          <a:xfrm>
            <a:off x="7498080" y="1783080"/>
            <a:ext cx="594360" cy="594360"/>
          </a:xfrm>
          <a:prstGeom prst="ellipse">
            <a:avLst/>
          </a:prstGeom>
          <a:solidFill>
            <a:srgbClr val="47CDFF"/>
          </a:solidFill>
          <a:ln w="12700">
            <a:solidFill>
              <a:srgbClr val="47CDFF"/>
            </a:solidFill>
            <a:prstDash val="solid"/>
          </a:ln>
        </p:spPr>
      </p:sp>
      <p:pic>
        <p:nvPicPr>
          <p:cNvPr id="26" name="Image 4" descr="icon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6670" y="1931670"/>
            <a:ext cx="297180" cy="2971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275320" y="17830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Inteligencia de negocio</a:t>
            </a:r>
            <a:endParaRPr lang="en-US" sz="1800" dirty="0"/>
          </a:p>
        </p:txBody>
      </p:sp>
      <p:sp>
        <p:nvSpPr>
          <p:cNvPr id="28" name="Text 20"/>
          <p:cNvSpPr txBox="1"/>
          <p:nvPr/>
        </p:nvSpPr>
        <p:spPr>
          <a:xfrm>
            <a:off x="7498080" y="2606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Tableros con datos de la web, del CRM y de las fuentes que EuroTex autorice.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7498080" y="3520440"/>
            <a:ext cx="3840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Consultas por línea de producto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Cotizaciones y tasa de cierre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Oportunidades por asesor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Tiempos de atención y seguimiento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opcionales con alcance y cotización propios. Viabilidad sujeta a APIs, permisos y documentación.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 de trabajo por fases</a:t>
            </a:r>
            <a:endParaRPr lang="en-US" sz="3200" dirty="0"/>
          </a:p>
        </p:txBody>
      </p:sp>
      <p:sp>
        <p:nvSpPr>
          <p:cNvPr id="4" name="Fase 1"/>
          <p:cNvSpPr/>
          <p:nvPr/>
        </p:nvSpPr>
        <p:spPr>
          <a:xfrm>
            <a:off x="548640" y="1737360"/>
            <a:ext cx="2560320" cy="3474720"/>
          </a:xfrm>
          <a:prstGeom prst="roundRect">
            <a:avLst>
              <a:gd name="adj" fmla="val 2857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9659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8346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Levantamiento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490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Objetivos, contenidos, marcas y servicios, accesos y responsables.</a:t>
            </a:r>
            <a:endParaRPr lang="en-US" sz="1400" dirty="0"/>
          </a:p>
        </p:txBody>
      </p:sp>
      <p:sp>
        <p:nvSpPr>
          <p:cNvPr id="8" name="Flecha"/>
          <p:cNvSpPr/>
          <p:nvPr/>
        </p:nvSpPr>
        <p:spPr>
          <a:xfrm>
            <a:off x="3127248" y="3291840"/>
            <a:ext cx="246888" cy="274320"/>
          </a:xfrm>
          <a:prstGeom prst="rightArrow">
            <a:avLst/>
          </a:prstGeom>
          <a:solidFill>
            <a:srgbClr val="47CDFF"/>
          </a:solidFill>
          <a:ln w="12700">
            <a:solidFill>
              <a:srgbClr val="47CDFF"/>
            </a:solidFill>
            <a:prstDash val="solid"/>
          </a:ln>
        </p:spPr>
      </p:sp>
      <p:sp>
        <p:nvSpPr>
          <p:cNvPr id="9" name="Fase 2"/>
          <p:cNvSpPr/>
          <p:nvPr/>
        </p:nvSpPr>
        <p:spPr>
          <a:xfrm>
            <a:off x="3392424" y="1737360"/>
            <a:ext cx="2560320" cy="3474720"/>
          </a:xfrm>
          <a:prstGeom prst="roundRect">
            <a:avLst>
              <a:gd name="adj" fmla="val 2857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66744" y="19659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3666744" y="28346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 y diseño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666744" y="37490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Logotipo, guía visual y propuesta de sitio que EuroTex valida antes de programar.</a:t>
            </a:r>
            <a:endParaRPr lang="en-US" sz="1400" dirty="0"/>
          </a:p>
        </p:txBody>
      </p:sp>
      <p:sp>
        <p:nvSpPr>
          <p:cNvPr id="13" name="Flecha"/>
          <p:cNvSpPr/>
          <p:nvPr/>
        </p:nvSpPr>
        <p:spPr>
          <a:xfrm>
            <a:off x="5971032" y="3291840"/>
            <a:ext cx="246888" cy="274320"/>
          </a:xfrm>
          <a:prstGeom prst="rightArrow">
            <a:avLst/>
          </a:prstGeom>
          <a:solidFill>
            <a:srgbClr val="47CDFF"/>
          </a:solidFill>
          <a:ln w="12700">
            <a:solidFill>
              <a:srgbClr val="47CDFF"/>
            </a:solidFill>
            <a:prstDash val="solid"/>
          </a:ln>
        </p:spPr>
      </p:sp>
      <p:sp>
        <p:nvSpPr>
          <p:cNvPr id="14" name="Fase 3"/>
          <p:cNvSpPr/>
          <p:nvPr/>
        </p:nvSpPr>
        <p:spPr>
          <a:xfrm>
            <a:off x="6236208" y="1737360"/>
            <a:ext cx="2560320" cy="3474720"/>
          </a:xfrm>
          <a:prstGeom prst="roundRect">
            <a:avLst>
              <a:gd name="adj" fmla="val 2857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10528" y="19659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6510528" y="28346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y lanzamiento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10528" y="37490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Construcción, catálogo, contacto, pruebas, migración acordada y capacitación.</a:t>
            </a:r>
            <a:endParaRPr lang="en-US" sz="1400" dirty="0"/>
          </a:p>
        </p:txBody>
      </p:sp>
      <p:sp>
        <p:nvSpPr>
          <p:cNvPr id="18" name="Flecha"/>
          <p:cNvSpPr/>
          <p:nvPr/>
        </p:nvSpPr>
        <p:spPr>
          <a:xfrm>
            <a:off x="8814816" y="3291840"/>
            <a:ext cx="246888" cy="274320"/>
          </a:xfrm>
          <a:prstGeom prst="rightArrow">
            <a:avLst/>
          </a:prstGeom>
          <a:solidFill>
            <a:srgbClr val="47CDFF"/>
          </a:solidFill>
          <a:ln w="12700">
            <a:solidFill>
              <a:srgbClr val="47CDFF"/>
            </a:solidFill>
            <a:prstDash val="solid"/>
          </a:ln>
        </p:spPr>
      </p:sp>
      <p:sp>
        <p:nvSpPr>
          <p:cNvPr id="19" name="Fase 4"/>
          <p:cNvSpPr/>
          <p:nvPr/>
        </p:nvSpPr>
        <p:spPr>
          <a:xfrm>
            <a:off x="9079992" y="1737360"/>
            <a:ext cx="2560320" cy="3474720"/>
          </a:xfrm>
          <a:prstGeom prst="roundRect">
            <a:avLst>
              <a:gd name="adj" fmla="val 2857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54312" y="19659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000" dirty="0"/>
          </a:p>
        </p:txBody>
      </p:sp>
      <p:sp>
        <p:nvSpPr>
          <p:cNvPr id="21" name="Text 18"/>
          <p:cNvSpPr txBox="1"/>
          <p:nvPr/>
        </p:nvSpPr>
        <p:spPr>
          <a:xfrm>
            <a:off x="9354312" y="28346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Prospección y evolución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354312" y="37490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de clientes potenciales y módulos según prioridades.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Plazos, entregables e inversión se definen en la cotización formal.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Siguiente paso: reunión de alcance y cotización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4592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Agendemos una reunión para confirmar el catálogo, los contenidos y las prioridades de EuroTex. Con eso preparamos una cotización formal.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4747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Podemos comenzar por el eje que más urgencia tenga: identidad, sitio web o prospección.</a:t>
            </a:r>
            <a:endParaRPr lang="en-US" sz="1600" dirty="0"/>
          </a:p>
        </p:txBody>
      </p:sp>
      <p:sp>
        <p:nvSpPr>
          <p:cNvPr id="6" name="Tarjeta de contacto"/>
          <p:cNvSpPr/>
          <p:nvPr/>
        </p:nvSpPr>
        <p:spPr>
          <a:xfrm>
            <a:off x="6583680" y="1645920"/>
            <a:ext cx="5029200" cy="402336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SYMTHRE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1828800"/>
            <a:ext cx="448056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949440" y="31089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Gerardo Valpuesta</a:t>
            </a:r>
            <a:endParaRPr lang="en-US" sz="2000" dirty="0"/>
          </a:p>
        </p:txBody>
      </p:sp>
      <p:pic>
        <p:nvPicPr>
          <p:cNvPr id="9" name="Image 1" descr="icon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384048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406640" y="37947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valpuestagerardo@gmail.com</a:t>
            </a:r>
            <a:endParaRPr lang="en-US" sz="1500" dirty="0"/>
          </a:p>
        </p:txBody>
      </p:sp>
      <p:pic>
        <p:nvPicPr>
          <p:cNvPr id="11" name="Image 2" descr="icon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438912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406640" y="4343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gerardovalpuesta.vercel.app/portfolio</a:t>
            </a:r>
            <a:endParaRPr lang="en-US" sz="1500" dirty="0"/>
          </a:p>
        </p:txBody>
      </p:sp>
      <p:pic>
        <p:nvPicPr>
          <p:cNvPr id="13" name="Image 3" descr="icon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4937760"/>
            <a:ext cx="274320" cy="27432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7406640" y="4892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linkedin.com/in/gerardovalpuesta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YMTHREE EuroTex">
  <a:themeElements>
    <a:clrScheme name="SYMTHREE EuroTex">
      <a:dk1>
        <a:srgbClr val="101A2B"/>
      </a:dk1>
      <a:lt1>
        <a:srgbClr val="FFFFFF"/>
      </a:lt1>
      <a:dk2>
        <a:srgbClr val="0A1530"/>
      </a:dk2>
      <a:lt2>
        <a:srgbClr val="C8D8EF"/>
      </a:lt2>
      <a:accent1>
        <a:srgbClr val="47CDFF"/>
      </a:accent1>
      <a:accent2>
        <a:srgbClr val="2F6BFF"/>
      </a:accent2>
      <a:accent3>
        <a:srgbClr val="0B2A5B"/>
      </a:accent3>
      <a:accent4>
        <a:srgbClr val="3B4652"/>
      </a:accent4>
      <a:accent5>
        <a:srgbClr val="91A3BD"/>
      </a:accent5>
      <a:accent6>
        <a:srgbClr val="25D366"/>
      </a:accent6>
      <a:hlink>
        <a:srgbClr val="47CDFF"/>
      </a:hlink>
      <a:folHlink>
        <a:srgbClr val="91A3BD"/>
      </a:folHlink>
    </a:clrScheme>
    <a:fontScheme name="SYMTHREE EuroTex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SYMTHREE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para EuroTex — SYMTHREE</dc:title>
  <dc:subject>PptxGenJS Presentation</dc:subject>
  <dc:creator>SYMTHREE · Gerardo Valpuesta</dc:creator>
  <cp:lastModifiedBy>SYMTHREE · Gerardo Valpuesta</cp:lastModifiedBy>
  <cp:revision>1</cp:revision>
  <dcterms:created xsi:type="dcterms:W3CDTF">2026-10-07T05:31:49Z</dcterms:created>
  <dcterms:modified xsi:type="dcterms:W3CDTF">2026-10-07T05:31:49Z</dcterms:modified>
</cp:coreProperties>
</file>