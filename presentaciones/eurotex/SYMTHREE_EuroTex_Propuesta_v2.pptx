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Quiénes somos" id="{e08757a2-42e5-138e-ab7c-29d8560150e3}">
          <p14:sldIdLst>
            <p14:sldId id="256"/>
            <p14:sldId id="257"/>
            <p14:sldId id="258"/>
          </p14:sldIdLst>
        </p14:section>
        <p14:section name="Diagnóstico" id="{03728b83-7181-e400-ac91-6350ae039083}">
          <p14:sldIdLst>
            <p14:sldId id="259"/>
          </p14:sldIdLst>
        </p14:section>
        <p14:section name="Propuesta" id="{66ec8e00-7651-1253-ba72-26c94f83f79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ierre" id="{939e7b50-ee3d-eee6-178c-0eefd9368c6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comercial de SYMTHREE para EuroTex. Abrir con el objetivo: renovar la imagen de EuroTex, entregar un sitio 100% funcional y publicado, y abrir canales de prospección. Fuente: eurotex.com.mx y eurotex.com.mx/servicios. Revisión de contenido público: 6 de octubre de 2026. Las propuestas describen alcance sugerido, sujeto a levantamiento y cotización.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breve de quién propone. SYMTHREE es la empresa de tecnología que se está constituyendo; el equipo fundador acumula más de 6 años de experiencia en software, automatización e integración. Casos tomados del portafolio público: gerardovalpuesta.vercel.app/portfolio.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Casos del portafolio con resultados declarados en el mismo; no son resultados proyectados para EuroTex. AgentSat: agente autónomo de escritorio (Tauri, SvelteKit, Express, SQLite, Docker, Playwright) para descargar CFDI del SAT con CIEC/e.firma; reduce de días a ~5 minutos por sesión. CRM de WhatsApp con IA. Portal XAMAI 2.0: 85% menos tiempo de carga inicial y 90% más satisfacción. TersaNet: ERP de cotizaciones e inventario. Pipelines n8n y MCP: hasta 50% menos trabajo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eurotex.com.mx y eurotex.com.mx/servicios. Revisión de contenido público: 6 de octubre de 2026. Las propuestas describen alcance sugerido, sujeto a levantamiento y cotización. Hallazgos verificables en inicio: John Vicks v1/v2, Company ABCD/EFGH y texto lorem ipsum. Formulario y enlaces del pie en inglés. La ruta y el catálogo son recomendaciones, no resultados de una auditoría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ejecutivo de la propuesta. Eje 1: imagen de marca (actualización del logotipo y estandarización visual). Eje 2: presencia digital (conclusión y diseño del sitio, catálogo de representadas). Eje 3: estrategia comercial (contacto inmediato, prospección digital, mejora de la primera impresión). Cada eje se puede contratar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Conceptos A y B generados para explorar una renovación opcional. Concepto C: recreación en alta definición del logo tipográfico proporcionado por el cliente, manteniendo su estilo y acento azul en la X. Requiere vectorización para uso maestro. No son logotipos aprobados ni archivos maestros. La fase de marca incluiría refinamiento, vectorización, variantes y guía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Estandarización visual: definir colores oficiales, tipografías y formatos de uso para que toda la comunicación de la empresa tenga una imagen unificada. La paleta y las tipografías mostradas son una propuesta preliminar basada en el concepto C; se definen y aprueban en la fase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eurotex.com.mx y eurotex.com.mx/servicios. Revisión de contenido público: 6 de octubre de 2026. Las propuestas describen alcance sugerido, sujeto a levantamiento y cotización. Imagen conceptual generada para ilustrar el rediseño. No es una implementación ni fotografía de instalaciones de EuroTex. Diseño y contenidos por validar con EuroTex.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 conceptual generada para ilustrar la propuesta responsiva. No representa el sitio actual ni una implementación final. El cliente reporta problemas al adaptar el sitio, incluido el menú. Alcance propuesto: diseño completamente responsivo y validación de navegación, submenús, formularios, botones, imágenes y contenido en móvil, tablet y escritorio. Acordar navegadores y matriz de dispositivos en el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Sección clara dentro del sitio donde los clientes ven todas las marcas que maneja EuroTex y los servicios técnicos que se ofrecen para cada una, de manera gráfica. Las categorías mostradas son una primera clasificación de trabajo y los servicios por marca son una plantilla: se confirman con EuroTex en el levantamiento. Pendiente: logotipos oficiales de cada marca y autorización para su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Facilidad de contacto inmediato: formularios automáticos y botón directo de WhatsApp Business en el sitio para que quien necesite una cotización o servicio técnico se comunique al instante. La conversación mostrada es una ilustración conceptual. Requiere definir número, horarios y responsables de atención.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Búsqueda digital de clientes: crear un método de prospección con herramientas digitales (como Google y redes profesionales) para identificar nuevas textileras o empresas del sector en México que utilicen maquinaria de las representadas, armando una base de datos de clientes potenciales. Usar solo información pública y respetar la normativa de datos personales. No se prometen cierres ni volumen de prospectos; el entregable es el método y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 en la experiencia del cliente: asegurar que la primera impresión de cualquier empresa que busque a EuroTex por internet sea la de una compañía moderna, tecnológica, líder en el mercado y con canales de atención rápidos y eficientes. Columna 'Hoy': hallazgos verificables del sitio actual al 6 de octubre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Capacidades de SYMTHREE como módulos opcionales con alcance y cotización propios. Ejemplos de uso propuestos para EuroTex, no afirmaciones sobre sus sistemas actuales. Cualquier integración requiere validar accesibilidad técnica, seguridad, licencias, permisos y alcance con la contraparte. Los indicadores de BI son sugeridos; definir fuentes, reglas de cálculo, periodicidad y responsables.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Fases sin fechas: los plazos, entregables, aceptación, mantenimiento y costos recurrentes se definen en la cotización formal. No se presentan precios ni plazos sin confirmación.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comercial: solicitar reunión de levantamiento para confirmar catálogo, contenidos, responsables, accesos, integración y módulos prioritarios. La cotización formal define inversión, calendario, entregables, aceptación, mantenimiento y costos recurrentes.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OSCUR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o de hilos azule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0"/>
            <a:ext cx="4507992" cy="6858000"/>
          </a:xfrm>
          <a:prstGeom prst="rect">
            <a:avLst/>
          </a:prstGeom>
        </p:spPr>
      </p:pic>
      <p:pic>
        <p:nvPicPr>
          <p:cNvPr id="3" name="Image 1" descr="SYMTHREE Enterprise Technology &amp; Intelligenc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640080"/>
            <a:ext cx="3291840" cy="10972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PARA EUROTEX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274320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Identidad, web y crecimiento comercial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marca renovada, un sitio que facilita la cotización y nuevas vías para encontrar clientes en la industria textil.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SYMTHREE: tecnología a la medida de su operación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Technology &amp; Intelligence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una empresa de tecnología que diseña y construye sitios web, sistemas a la medida, automatizaciones con inteligencia artificial e integraciones entre plataformas.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8404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EuroTex, un solo equipo cubre la imagen, el sitio web y las herramientas comerciales que lo acompañan.</a:t>
            </a:r>
            <a:endParaRPr lang="en-US" sz="1600" dirty="0"/>
          </a:p>
        </p:txBody>
      </p:sp>
      <p:sp>
        <p:nvSpPr>
          <p:cNvPr id="7" name="Dato 1"/>
          <p:cNvSpPr/>
          <p:nvPr/>
        </p:nvSpPr>
        <p:spPr>
          <a:xfrm>
            <a:off x="6400800" y="15087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50876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150876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años de experiencia en software y automatización</a:t>
            </a:r>
            <a:endParaRPr lang="en-US" sz="1400" dirty="0"/>
          </a:p>
        </p:txBody>
      </p:sp>
      <p:sp>
        <p:nvSpPr>
          <p:cNvPr id="10" name="Dato 2"/>
          <p:cNvSpPr/>
          <p:nvPr/>
        </p:nvSpPr>
        <p:spPr>
          <a:xfrm>
            <a:off x="6400800" y="28346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83464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8346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operativo con nuestro agente fiscal autónomo (AgentSat)</a:t>
            </a:r>
            <a:endParaRPr lang="en-US" sz="1400" dirty="0"/>
          </a:p>
        </p:txBody>
      </p:sp>
      <p:sp>
        <p:nvSpPr>
          <p:cNvPr id="13" name="Dato 3"/>
          <p:cNvSpPr/>
          <p:nvPr/>
        </p:nvSpPr>
        <p:spPr>
          <a:xfrm>
            <a:off x="6400800" y="416052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16052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16052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licitación ganada en 2021 con una app de campo</a:t>
            </a:r>
            <a:endParaRPr lang="en-US" sz="1400" dirty="0"/>
          </a:p>
        </p:txBody>
      </p:sp>
      <p:sp>
        <p:nvSpPr>
          <p:cNvPr id="16" name="Etiqueta"/>
          <p:cNvSpPr/>
          <p:nvPr/>
        </p:nvSpPr>
        <p:spPr>
          <a:xfrm>
            <a:off x="548640" y="56692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6692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Sitios web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1874520" y="56692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7452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ERP y CRM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3749040" y="566928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 e IA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5623560" y="56692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23560" y="5669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de APIs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y resultados tomados de nuestro portafolio: gerardovalpuesta.vercel.app/portfolio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 que ya operan</a:t>
            </a:r>
            <a:endParaRPr lang="en-US" sz="3200" dirty="0"/>
          </a:p>
        </p:txBody>
      </p:sp>
      <p:sp>
        <p:nvSpPr>
          <p:cNvPr id="4" name="AgentSat"/>
          <p:cNvSpPr/>
          <p:nvPr/>
        </p:nvSpPr>
        <p:spPr>
          <a:xfrm>
            <a:off x="548640" y="1508760"/>
            <a:ext cx="4754880" cy="4526280"/>
          </a:xfrm>
          <a:prstGeom prst="roundRect">
            <a:avLst>
              <a:gd name="adj" fmla="val 1616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PRINCIPAL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AgentSat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260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autónomo y copiloto fiscal con IA. Gestiona accesos al SAT, resuelve CAPTCHAs y descarga facturas (CFDI) de varias empresas y RFC, y detecta riesgos fiscales.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572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2651760" y="4572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operativo: de días a ~5 minutos por sesión</a:t>
            </a:r>
            <a:endParaRPr lang="en-US" sz="1300" dirty="0"/>
          </a:p>
        </p:txBody>
      </p:sp>
      <p:sp>
        <p:nvSpPr>
          <p:cNvPr id="12" name="Proyecto 1"/>
          <p:cNvSpPr/>
          <p:nvPr/>
        </p:nvSpPr>
        <p:spPr>
          <a:xfrm>
            <a:off x="5532120" y="1508760"/>
            <a:ext cx="2971800" cy="2148840"/>
          </a:xfrm>
          <a:prstGeom prst="roundRect">
            <a:avLst>
              <a:gd name="adj" fmla="val 340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3" name="Icono fondo"/>
          <p:cNvSpPr/>
          <p:nvPr/>
        </p:nvSpPr>
        <p:spPr>
          <a:xfrm>
            <a:off x="5760720" y="1737360"/>
            <a:ext cx="548640" cy="5486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4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745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760720" y="2423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de WhatsApp con IA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760720" y="28346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 inicial inmediata y seguimiento automático de prospectos.</a:t>
            </a:r>
            <a:endParaRPr lang="en-US" sz="1200" dirty="0"/>
          </a:p>
        </p:txBody>
      </p:sp>
      <p:sp>
        <p:nvSpPr>
          <p:cNvPr id="17" name="Proyecto 2"/>
          <p:cNvSpPr/>
          <p:nvPr/>
        </p:nvSpPr>
        <p:spPr>
          <a:xfrm>
            <a:off x="8641080" y="1508760"/>
            <a:ext cx="2971800" cy="2148840"/>
          </a:xfrm>
          <a:prstGeom prst="roundRect">
            <a:avLst>
              <a:gd name="adj" fmla="val 340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8" name="Icono fondo"/>
          <p:cNvSpPr/>
          <p:nvPr/>
        </p:nvSpPr>
        <p:spPr>
          <a:xfrm>
            <a:off x="8869680" y="1737360"/>
            <a:ext cx="548640" cy="5486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9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87452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869680" y="2423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XAMAI 2.0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8869680" y="28346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menos tiempo de carga inicial y 90% más satisfacción de usuarios.</a:t>
            </a:r>
            <a:endParaRPr lang="en-US" sz="1200" dirty="0"/>
          </a:p>
        </p:txBody>
      </p:sp>
      <p:sp>
        <p:nvSpPr>
          <p:cNvPr id="22" name="Proyecto 3"/>
          <p:cNvSpPr/>
          <p:nvPr/>
        </p:nvSpPr>
        <p:spPr>
          <a:xfrm>
            <a:off x="5532120" y="3794760"/>
            <a:ext cx="2971800" cy="2148840"/>
          </a:xfrm>
          <a:prstGeom prst="roundRect">
            <a:avLst>
              <a:gd name="adj" fmla="val 340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3" name="Icono fondo"/>
          <p:cNvSpPr/>
          <p:nvPr/>
        </p:nvSpPr>
        <p:spPr>
          <a:xfrm>
            <a:off x="5760720" y="4023360"/>
            <a:ext cx="548640" cy="5486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4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416052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760720" y="4709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TersaNet (ERP)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760720" y="51206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Cotizaciones e inventario con reportes PDF; sin errores de cálculo.</a:t>
            </a:r>
            <a:endParaRPr lang="en-US" sz="1200" dirty="0"/>
          </a:p>
        </p:txBody>
      </p:sp>
      <p:sp>
        <p:nvSpPr>
          <p:cNvPr id="27" name="Proyecto 4"/>
          <p:cNvSpPr/>
          <p:nvPr/>
        </p:nvSpPr>
        <p:spPr>
          <a:xfrm>
            <a:off x="8641080" y="3794760"/>
            <a:ext cx="2971800" cy="2148840"/>
          </a:xfrm>
          <a:prstGeom prst="roundRect">
            <a:avLst>
              <a:gd name="adj" fmla="val 340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8" name="Icono fondo"/>
          <p:cNvSpPr/>
          <p:nvPr/>
        </p:nvSpPr>
        <p:spPr>
          <a:xfrm>
            <a:off x="8869680" y="4023360"/>
            <a:ext cx="548640" cy="5486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9" name="Image 4" descr="icon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416052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869680" y="4709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Pipelines n8n y MCP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8869680" y="51206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50% menos trabajo manual en captura y sincronización.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reportados en nuestro portafolio: gerardovalpuesta.vercel.app/portfolio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en el sitio actual</a:t>
            </a:r>
            <a:endParaRPr lang="en-US" sz="3200" dirty="0"/>
          </a:p>
        </p:txBody>
      </p:sp>
      <p:sp>
        <p:nvSpPr>
          <p:cNvPr id="4" name="Oportunidad 1"/>
          <p:cNvSpPr/>
          <p:nvPr/>
        </p:nvSpPr>
        <p:spPr>
          <a:xfrm>
            <a:off x="54864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Confianza en cada sección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Sustituir testimonios y textos de ejemplo por casos reales autorizados y unificar el idioma.</a:t>
            </a:r>
            <a:endParaRPr lang="en-US" sz="1500" dirty="0"/>
          </a:p>
        </p:txBody>
      </p:sp>
      <p:sp>
        <p:nvSpPr>
          <p:cNvPr id="8" name="Oportunidad 2"/>
          <p:cNvSpPr/>
          <p:nvPr/>
        </p:nvSpPr>
        <p:spPr>
          <a:xfrm>
            <a:off x="429768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ruta clara hacia la cotización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Guiar al visitante desde su necesidad hasta una solicitud con datos útiles para ventas.</a:t>
            </a:r>
            <a:endParaRPr lang="en-US" sz="1500" dirty="0"/>
          </a:p>
        </p:txBody>
      </p:sp>
      <p:sp>
        <p:nvSpPr>
          <p:cNvPr id="12" name="Oportunidad 3"/>
          <p:cNvSpPr/>
          <p:nvPr/>
        </p:nvSpPr>
        <p:spPr>
          <a:xfrm>
            <a:off x="8046720" y="16459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18745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34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catálogo más fácil de consultar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las marcas representadas con sus servicios, fichas y consulta comercial contextual.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Basado en revisión de contenido público del sitio, 6 de octubre de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propuesta: tres ejes para EuroTex</a:t>
            </a:r>
            <a:endParaRPr lang="en-US" sz="3200" dirty="0"/>
          </a:p>
        </p:txBody>
      </p:sp>
      <p:sp>
        <p:nvSpPr>
          <p:cNvPr id="4" name="Eje 1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03454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2880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828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de marca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 actualizado, profesional y nítido en digital e impreso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Colores, tipografías y formatos oficiales</a:t>
            </a:r>
            <a:endParaRPr lang="en-US" sz="1500" dirty="0"/>
          </a:p>
        </p:txBody>
      </p:sp>
      <p:sp>
        <p:nvSpPr>
          <p:cNvPr id="10" name="Eje 2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1" name="Icono fondo"/>
          <p:cNvSpPr/>
          <p:nvPr/>
        </p:nvSpPr>
        <p:spPr>
          <a:xfrm>
            <a:off x="457200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2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3454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57784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5778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digital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web 100% funcional y publicado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de representadas con sus servicios</a:t>
            </a:r>
            <a:endParaRPr lang="en-US" sz="1500" dirty="0"/>
          </a:p>
        </p:txBody>
      </p:sp>
      <p:sp>
        <p:nvSpPr>
          <p:cNvPr id="16" name="Eje 3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7" name="Icono fondo"/>
          <p:cNvSpPr/>
          <p:nvPr/>
        </p:nvSpPr>
        <p:spPr>
          <a:xfrm>
            <a:off x="8321040" y="1828800"/>
            <a:ext cx="822960" cy="8229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8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203454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268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932688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32004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 inmediato: formularios y WhatsApp Business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 digital de nuevos clientes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eje puede contratarse por separado o en conjunto.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 · Tres rutas para renovar el logotipo</a:t>
            </a:r>
            <a:endParaRPr lang="en-US" sz="3200" dirty="0"/>
          </a:p>
        </p:txBody>
      </p:sp>
      <p:sp>
        <p:nvSpPr>
          <p:cNvPr id="4" name="Panel logos A y B"/>
          <p:cNvSpPr/>
          <p:nvPr/>
        </p:nvSpPr>
        <p:spPr>
          <a:xfrm>
            <a:off x="548640" y="1463040"/>
            <a:ext cx="57607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onceptos A y B de logotipo EuroTex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76072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Monograma tejido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industrial con referencia al tejido textil.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474720" y="5440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Entrelazado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 contemporáneo para materiales comerciales.</a:t>
            </a:r>
            <a:endParaRPr lang="en-US" sz="1300" dirty="0"/>
          </a:p>
        </p:txBody>
      </p:sp>
      <p:sp>
        <p:nvSpPr>
          <p:cNvPr id="8" name="Panel logo C"/>
          <p:cNvSpPr/>
          <p:nvPr/>
        </p:nvSpPr>
        <p:spPr>
          <a:xfrm>
            <a:off x="6766560" y="146304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Concepto C de logotipo EuroTex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1554480"/>
            <a:ext cx="448056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76656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Tipográfico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logo del concepto web: marca limpia con acento azul en la X.</a:t>
            </a:r>
            <a:endParaRPr lang="en-US" sz="1400" dirty="0"/>
          </a:p>
        </p:txBody>
      </p:sp>
      <p:sp>
        <p:nvSpPr>
          <p:cNvPr id="11" name="Principio de diseño"/>
          <p:cNvSpPr/>
          <p:nvPr/>
        </p:nvSpPr>
        <p:spPr>
          <a:xfrm>
            <a:off x="6766560" y="425196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995160" y="4389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perder el enfoque de EuroTex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Modernizamos el logotipo cuidando que no pierda su esencia, para que se vea profesional y nítido tanto en formatos digitales como impresos.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Exploraciones iniciales no aprobadas. La renovación de marca es opcional.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1 · Una imagen unificada, seria y formal</a:t>
            </a:r>
            <a:endParaRPr lang="en-US" sz="3200" dirty="0"/>
          </a:p>
        </p:txBody>
      </p:sp>
      <p:sp>
        <p:nvSpPr>
          <p:cNvPr id="4" name="Colores"/>
          <p:cNvSpPr/>
          <p:nvPr/>
        </p:nvSpPr>
        <p:spPr>
          <a:xfrm>
            <a:off x="548640" y="150876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Colores oficiales</a:t>
            </a:r>
            <a:endParaRPr lang="en-US" sz="1800" dirty="0"/>
          </a:p>
        </p:txBody>
      </p:sp>
      <p:sp>
        <p:nvSpPr>
          <p:cNvPr id="6" name="Muestra Azul marino"/>
          <p:cNvSpPr/>
          <p:nvPr/>
        </p:nvSpPr>
        <p:spPr>
          <a:xfrm>
            <a:off x="777240" y="2240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91640" y="2313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marino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principal · #0B2A5B</a:t>
            </a:r>
            <a:endParaRPr lang="en-US" sz="1200" dirty="0"/>
          </a:p>
        </p:txBody>
      </p:sp>
      <p:sp>
        <p:nvSpPr>
          <p:cNvPr id="9" name="Muestra Azul acento"/>
          <p:cNvSpPr/>
          <p:nvPr/>
        </p:nvSpPr>
        <p:spPr>
          <a:xfrm>
            <a:off x="777240" y="31546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1E6BFF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691640" y="32278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acento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691640" y="3547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y detalles · #1E6BFF</a:t>
            </a:r>
            <a:endParaRPr lang="en-US" sz="1200" dirty="0"/>
          </a:p>
        </p:txBody>
      </p:sp>
      <p:sp>
        <p:nvSpPr>
          <p:cNvPr id="12" name="Muestra Gris grafito"/>
          <p:cNvSpPr/>
          <p:nvPr/>
        </p:nvSpPr>
        <p:spPr>
          <a:xfrm>
            <a:off x="777240" y="40690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3B4652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9164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Gris grafito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4462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y apoyo · #3B4652</a:t>
            </a:r>
            <a:endParaRPr lang="en-US" sz="1200" dirty="0"/>
          </a:p>
        </p:txBody>
      </p:sp>
      <p:sp>
        <p:nvSpPr>
          <p:cNvPr id="15" name="Muestra Blanco"/>
          <p:cNvSpPr/>
          <p:nvPr/>
        </p:nvSpPr>
        <p:spPr>
          <a:xfrm>
            <a:off x="777240" y="49834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750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691640" y="50566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Blanco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5376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Fondos · #FFFFFF</a:t>
            </a:r>
            <a:endParaRPr lang="en-US" sz="1200" dirty="0"/>
          </a:p>
        </p:txBody>
      </p:sp>
      <p:sp>
        <p:nvSpPr>
          <p:cNvPr id="18" name="Tipografías"/>
          <p:cNvSpPr/>
          <p:nvPr/>
        </p:nvSpPr>
        <p:spPr>
          <a:xfrm>
            <a:off x="4434840" y="150876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Tipografías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2286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60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3337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Títulos: sans-serif geométrica en negritas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63440" y="4114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892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Textos: sans-serif legible en pantalla e impresión</a:t>
            </a:r>
            <a:endParaRPr lang="en-US" sz="1400" dirty="0"/>
          </a:p>
        </p:txBody>
      </p:sp>
      <p:sp>
        <p:nvSpPr>
          <p:cNvPr id="24" name="Formatos de uso"/>
          <p:cNvSpPr/>
          <p:nvPr/>
        </p:nvSpPr>
        <p:spPr>
          <a:xfrm>
            <a:off x="8229600" y="1508760"/>
            <a:ext cx="3383280" cy="4480560"/>
          </a:xfrm>
          <a:prstGeom prst="roundRect">
            <a:avLst>
              <a:gd name="adj" fmla="val 2162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5820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Formatos de uso</a:t>
            </a:r>
            <a:endParaRPr lang="en-US" sz="1800" dirty="0"/>
          </a:p>
        </p:txBody>
      </p:sp>
      <p:sp>
        <p:nvSpPr>
          <p:cNvPr id="26" name="Etiqueta"/>
          <p:cNvSpPr/>
          <p:nvPr/>
        </p:nvSpPr>
        <p:spPr>
          <a:xfrm>
            <a:off x="8458200" y="228600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58200" y="22860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Sitio web y favicon</a:t>
            </a:r>
            <a:endParaRPr lang="en-US" sz="1100" dirty="0"/>
          </a:p>
        </p:txBody>
      </p:sp>
      <p:sp>
        <p:nvSpPr>
          <p:cNvPr id="28" name="Etiqueta"/>
          <p:cNvSpPr/>
          <p:nvPr/>
        </p:nvSpPr>
        <p:spPr>
          <a:xfrm>
            <a:off x="8458200" y="2852928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58200" y="28529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Cotizaciones en PDF</a:t>
            </a:r>
            <a:endParaRPr lang="en-US" sz="1100" dirty="0"/>
          </a:p>
        </p:txBody>
      </p:sp>
      <p:sp>
        <p:nvSpPr>
          <p:cNvPr id="30" name="Etiqueta"/>
          <p:cNvSpPr/>
          <p:nvPr/>
        </p:nvSpPr>
        <p:spPr>
          <a:xfrm>
            <a:off x="8458200" y="3419856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4198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de correo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8458200" y="3986784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5820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 WhatsApp Business</a:t>
            </a:r>
            <a:endParaRPr lang="en-US" sz="1100" dirty="0"/>
          </a:p>
        </p:txBody>
      </p:sp>
      <p:sp>
        <p:nvSpPr>
          <p:cNvPr id="34" name="Etiqueta"/>
          <p:cNvSpPr/>
          <p:nvPr/>
        </p:nvSpPr>
        <p:spPr>
          <a:xfrm>
            <a:off x="8458200" y="4553712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45537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Presentaciones</a:t>
            </a:r>
            <a:endParaRPr lang="en-US" sz="1100" dirty="0"/>
          </a:p>
        </p:txBody>
      </p:sp>
      <p:sp>
        <p:nvSpPr>
          <p:cNvPr id="36" name="Etiqueta"/>
          <p:cNvSpPr/>
          <p:nvPr/>
        </p:nvSpPr>
        <p:spPr>
          <a:xfrm>
            <a:off x="8458200" y="5120640"/>
            <a:ext cx="29260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458200" y="5120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Papelería e impresos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Paleta y tipografías: propuesta preliminar; se aprueban en la fase de marca.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Un sitio moderno que presenta y vende</a:t>
            </a:r>
            <a:endParaRPr lang="en-US" sz="3200" dirty="0"/>
          </a:p>
        </p:txBody>
      </p:sp>
      <p:pic>
        <p:nvPicPr>
          <p:cNvPr id="4" name="Image 0" descr="Concepto visual de la página de inicio de EuroT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315200" cy="4114800"/>
          </a:xfrm>
          <a:prstGeom prst="rect">
            <a:avLst/>
          </a:prstGeom>
        </p:spPr>
      </p:pic>
      <p:sp>
        <p:nvSpPr>
          <p:cNvPr id="5" name="Punto 1"/>
          <p:cNvSpPr/>
          <p:nvPr/>
        </p:nvSpPr>
        <p:spPr>
          <a:xfrm>
            <a:off x="8138160" y="150876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3210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claro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directo y botón de cotización desde el primer vistazo.</a:t>
            </a:r>
            <a:endParaRPr lang="en-US" sz="1300" dirty="0"/>
          </a:p>
        </p:txBody>
      </p:sp>
      <p:sp>
        <p:nvSpPr>
          <p:cNvPr id="8" name="Punto 2"/>
          <p:cNvSpPr/>
          <p:nvPr/>
        </p:nvSpPr>
        <p:spPr>
          <a:xfrm>
            <a:off x="8138160" y="292608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3210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a la vista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3429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marca representada en una tarjeta, con su línea y servicios.</a:t>
            </a:r>
            <a:endParaRPr lang="en-US" sz="1300" dirty="0"/>
          </a:p>
        </p:txBody>
      </p:sp>
      <p:sp>
        <p:nvSpPr>
          <p:cNvPr id="11" name="Punto 3"/>
          <p:cNvSpPr/>
          <p:nvPr/>
        </p:nvSpPr>
        <p:spPr>
          <a:xfrm>
            <a:off x="8138160" y="434340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siempre a mano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321040" y="48463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flotante y menú de acceso rápido en todo el sitio.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visual ilustrativo. Diseño, textos y marcas por validar con EuroTex.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Un portal completamente responsivo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1463040" y="1600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compacto y ordenado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21031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legibles y controles fáciles de usar con el pulgar.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3063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adapta a cada pantalla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5661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Textos, imágenes y formularios sin cortes ni desbordamientos.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526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Probado antes de lanzar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5029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Navegación y cotización validadas en celular, tablet y computadora.</a:t>
            </a:r>
            <a:endParaRPr lang="en-US" sz="1500" dirty="0"/>
          </a:p>
        </p:txBody>
      </p:sp>
      <p:pic>
        <p:nvPicPr>
          <p:cNvPr id="13" name="Image 0" descr="Propuesta visual del menú en celula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95360" y="1371600"/>
            <a:ext cx="2651760" cy="47091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visual para móvil.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2 · Catálogo de marcas representadas</a:t>
            </a:r>
            <a:endParaRPr lang="en-US" sz="3200" dirty="0"/>
          </a:p>
        </p:txBody>
      </p:sp>
      <p:sp>
        <p:nvSpPr>
          <p:cNvPr id="4" name="Marca Rieter"/>
          <p:cNvSpPr/>
          <p:nvPr/>
        </p:nvSpPr>
        <p:spPr>
          <a:xfrm>
            <a:off x="548640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Rieter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7" name="Etiqueta"/>
          <p:cNvSpPr/>
          <p:nvPr/>
        </p:nvSpPr>
        <p:spPr>
          <a:xfrm>
            <a:off x="822960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9" name="Etiqueta"/>
          <p:cNvSpPr/>
          <p:nvPr/>
        </p:nvSpPr>
        <p:spPr>
          <a:xfrm>
            <a:off x="2011680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01168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12" name="Marca Datacolor"/>
          <p:cNvSpPr/>
          <p:nvPr/>
        </p:nvSpPr>
        <p:spPr>
          <a:xfrm>
            <a:off x="4325112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99432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Datacolor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4599432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y color</a:t>
            </a:r>
            <a:endParaRPr lang="en-US" sz="1400" dirty="0"/>
          </a:p>
        </p:txBody>
      </p:sp>
      <p:sp>
        <p:nvSpPr>
          <p:cNvPr id="15" name="Etiqueta"/>
          <p:cNvSpPr/>
          <p:nvPr/>
        </p:nvSpPr>
        <p:spPr>
          <a:xfrm>
            <a:off x="4599432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99432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17" name="Etiqueta"/>
          <p:cNvSpPr/>
          <p:nvPr/>
        </p:nvSpPr>
        <p:spPr>
          <a:xfrm>
            <a:off x="5788152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88152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99432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20" name="Marca Graf"/>
          <p:cNvSpPr/>
          <p:nvPr/>
        </p:nvSpPr>
        <p:spPr>
          <a:xfrm>
            <a:off x="8101584" y="150876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75904" y="16916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8375904" y="22860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23" name="Etiqueta"/>
          <p:cNvSpPr/>
          <p:nvPr/>
        </p:nvSpPr>
        <p:spPr>
          <a:xfrm>
            <a:off x="8375904" y="278892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75904" y="2788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25" name="Etiqueta"/>
          <p:cNvSpPr/>
          <p:nvPr/>
        </p:nvSpPr>
        <p:spPr>
          <a:xfrm>
            <a:off x="9564624" y="2788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564624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375904" y="32004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28" name="Marca Fong's"/>
          <p:cNvSpPr/>
          <p:nvPr/>
        </p:nvSpPr>
        <p:spPr>
          <a:xfrm>
            <a:off x="548640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Fong's</a:t>
            </a:r>
            <a:endParaRPr lang="en-US" sz="26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Teñido y acabado</a:t>
            </a:r>
            <a:endParaRPr lang="en-US" sz="1400" dirty="0"/>
          </a:p>
        </p:txBody>
      </p:sp>
      <p:sp>
        <p:nvSpPr>
          <p:cNvPr id="31" name="Etiqueta"/>
          <p:cNvSpPr/>
          <p:nvPr/>
        </p:nvSpPr>
        <p:spPr>
          <a:xfrm>
            <a:off x="822960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33" name="Etiqueta"/>
          <p:cNvSpPr/>
          <p:nvPr/>
        </p:nvSpPr>
        <p:spPr>
          <a:xfrm>
            <a:off x="2011680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1168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22960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36" name="Marca SSM"/>
          <p:cNvSpPr/>
          <p:nvPr/>
        </p:nvSpPr>
        <p:spPr>
          <a:xfrm>
            <a:off x="4325112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99432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SSM</a:t>
            </a:r>
            <a:endParaRPr lang="en-US" sz="2600" dirty="0"/>
          </a:p>
        </p:txBody>
      </p:sp>
      <p:sp>
        <p:nvSpPr>
          <p:cNvPr id="38" name="Text 35"/>
          <p:cNvSpPr txBox="1"/>
          <p:nvPr/>
        </p:nvSpPr>
        <p:spPr>
          <a:xfrm>
            <a:off x="4599432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Hilatura</a:t>
            </a:r>
            <a:endParaRPr lang="en-US" sz="1400" dirty="0"/>
          </a:p>
        </p:txBody>
      </p:sp>
      <p:sp>
        <p:nvSpPr>
          <p:cNvPr id="39" name="Etiqueta"/>
          <p:cNvSpPr/>
          <p:nvPr/>
        </p:nvSpPr>
        <p:spPr>
          <a:xfrm>
            <a:off x="4599432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99432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41" name="Etiqueta"/>
          <p:cNvSpPr/>
          <p:nvPr/>
        </p:nvSpPr>
        <p:spPr>
          <a:xfrm>
            <a:off x="5788152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88152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99432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44" name="Marca Arosa"/>
          <p:cNvSpPr/>
          <p:nvPr/>
        </p:nvSpPr>
        <p:spPr>
          <a:xfrm>
            <a:off x="8101584" y="3840480"/>
            <a:ext cx="3547872" cy="2103120"/>
          </a:xfrm>
          <a:prstGeom prst="roundRect">
            <a:avLst>
              <a:gd name="adj" fmla="val 34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375904" y="402336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Arosa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8375904" y="461772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confirmar</a:t>
            </a:r>
            <a:endParaRPr lang="en-US" sz="1400" dirty="0"/>
          </a:p>
        </p:txBody>
      </p:sp>
      <p:sp>
        <p:nvSpPr>
          <p:cNvPr id="47" name="Etiqueta"/>
          <p:cNvSpPr/>
          <p:nvPr/>
        </p:nvSpPr>
        <p:spPr>
          <a:xfrm>
            <a:off x="8375904" y="51206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75904" y="5120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Refacciones</a:t>
            </a:r>
            <a:endParaRPr lang="en-US" sz="1100" dirty="0"/>
          </a:p>
        </p:txBody>
      </p:sp>
      <p:sp>
        <p:nvSpPr>
          <p:cNvPr id="49" name="Etiqueta"/>
          <p:cNvSpPr/>
          <p:nvPr/>
        </p:nvSpPr>
        <p:spPr>
          <a:xfrm>
            <a:off x="9564624" y="51206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BFF">
              <a:alpha val="30000"/>
            </a:srgbClr>
          </a:solidFill>
          <a:ln w="6350">
            <a:solidFill>
              <a:srgbClr val="47CD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4624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técnico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375904" y="553212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Cotizar esta marca →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Categorías y servicios por validar con EuroTex. Logotipos oficiales de las marcas por incorporar.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 · Contacto inmediato, en un solo clic</a:t>
            </a:r>
            <a:endParaRPr lang="en-US" sz="3200" dirty="0"/>
          </a:p>
        </p:txBody>
      </p:sp>
      <p:sp>
        <p:nvSpPr>
          <p:cNvPr id="4" name="Icono fondo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pic>
        <p:nvPicPr>
          <p:cNvPr id="5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de WhatsApp Business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1508760" y="2011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en todo el sitio; abre la conversación con el producto o la marca ya indicados.</a:t>
            </a:r>
            <a:endParaRPr lang="en-US" sz="1400" dirty="0"/>
          </a:p>
        </p:txBody>
      </p:sp>
      <p:sp>
        <p:nvSpPr>
          <p:cNvPr id="8" name="Icono fondo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9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4612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Formularios automáticos en español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3520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Piden solo los datos útiles para ventas y llegan directo a su equipo.</a:t>
            </a:r>
            <a:endParaRPr lang="en-US" sz="1400" dirty="0"/>
          </a:p>
        </p:txBody>
      </p:sp>
      <p:sp>
        <p:nvSpPr>
          <p:cNvPr id="12" name="Icono fondo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3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5488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0876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Cotización y servicio técnico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508760" y="50292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rutas claras: pedir precio o solicitar atención técnica.</a:t>
            </a:r>
            <a:endParaRPr lang="en-US" sz="1400" dirty="0"/>
          </a:p>
        </p:txBody>
      </p:sp>
      <p:sp>
        <p:nvSpPr>
          <p:cNvPr id="16" name="Teléfono"/>
          <p:cNvSpPr/>
          <p:nvPr/>
        </p:nvSpPr>
        <p:spPr>
          <a:xfrm>
            <a:off x="7406640" y="1371600"/>
            <a:ext cx="3840480" cy="4754880"/>
          </a:xfrm>
          <a:prstGeom prst="roundRect">
            <a:avLst>
              <a:gd name="adj" fmla="val 4762"/>
            </a:avLst>
          </a:prstGeom>
          <a:solidFill>
            <a:srgbClr val="0B141F"/>
          </a:solidFill>
          <a:ln w="19050">
            <a:solidFill>
              <a:srgbClr val="27508F"/>
            </a:solidFill>
            <a:prstDash val="solid"/>
          </a:ln>
        </p:spPr>
      </p:sp>
      <p:sp>
        <p:nvSpPr>
          <p:cNvPr id="17" name="Encabezado chat"/>
          <p:cNvSpPr/>
          <p:nvPr/>
        </p:nvSpPr>
        <p:spPr>
          <a:xfrm>
            <a:off x="7589520" y="1554480"/>
            <a:ext cx="3474720" cy="685800"/>
          </a:xfrm>
          <a:prstGeom prst="rect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0" y="1554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EuroTex · WhatsApp Business</a:t>
            </a:r>
            <a:endParaRPr lang="en-US" sz="1400" dirty="0"/>
          </a:p>
        </p:txBody>
      </p:sp>
      <p:sp>
        <p:nvSpPr>
          <p:cNvPr id="19" name="Mensaje"/>
          <p:cNvSpPr/>
          <p:nvPr/>
        </p:nvSpPr>
        <p:spPr>
          <a:xfrm>
            <a:off x="8412480" y="2468880"/>
            <a:ext cx="2560320" cy="777240"/>
          </a:xfrm>
          <a:prstGeom prst="roundRect">
            <a:avLst>
              <a:gd name="adj" fmla="val 14118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522208" y="2468880"/>
            <a:ext cx="234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Hola, necesito cotizar refacciones para una máquina de hilatura.</a:t>
            </a:r>
            <a:endParaRPr lang="en-US" sz="1200" dirty="0"/>
          </a:p>
        </p:txBody>
      </p:sp>
      <p:sp>
        <p:nvSpPr>
          <p:cNvPr id="21" name="Mensaje"/>
          <p:cNvSpPr/>
          <p:nvPr/>
        </p:nvSpPr>
        <p:spPr>
          <a:xfrm>
            <a:off x="7680960" y="342900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F2C34"/>
          </a:solidFill>
          <a:ln w="12700">
            <a:solidFill>
              <a:srgbClr val="1F2C3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90688" y="3429000"/>
            <a:ext cx="2432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¡Hola! Con gusto te ayudamos. ¿Qué marca y modelo de máquina tienes?</a:t>
            </a:r>
            <a:endParaRPr lang="en-US" sz="1200" dirty="0"/>
          </a:p>
        </p:txBody>
      </p:sp>
      <p:sp>
        <p:nvSpPr>
          <p:cNvPr id="23" name="Mensaje"/>
          <p:cNvSpPr/>
          <p:nvPr/>
        </p:nvSpPr>
        <p:spPr>
          <a:xfrm>
            <a:off x="8595360" y="438912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DCF8C6"/>
          </a:solidFill>
          <a:ln w="12700">
            <a:solidFill>
              <a:srgbClr val="DCF8C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705088" y="43891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Rieter, modelo por confirmar.</a:t>
            </a:r>
            <a:endParaRPr lang="en-US" sz="1200" dirty="0"/>
          </a:p>
        </p:txBody>
      </p:sp>
      <p:sp>
        <p:nvSpPr>
          <p:cNvPr id="25" name="Mensaje"/>
          <p:cNvSpPr/>
          <p:nvPr/>
        </p:nvSpPr>
        <p:spPr>
          <a:xfrm>
            <a:off x="7680960" y="5120640"/>
            <a:ext cx="2651760" cy="640080"/>
          </a:xfrm>
          <a:prstGeom prst="roundRect">
            <a:avLst>
              <a:gd name="adj" fmla="val 17143"/>
            </a:avLst>
          </a:prstGeom>
          <a:solidFill>
            <a:srgbClr val="1F2C34"/>
          </a:solidFill>
          <a:ln w="12700">
            <a:solidFill>
              <a:srgbClr val="1F2C3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790688" y="5120640"/>
            <a:ext cx="2432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Perfecto. Un asesor te envía la cotización hoy.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Ilustración conceptual. Números, horarios y responsables se definen en el levantamiento.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 3 · Prospección digital de nuevos clientes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97430"/>
            <a:ext cx="388620" cy="3886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perfil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Textileras y empresas del sector en México que usan maquinaria de las marcas representadas.</a:t>
            </a:r>
            <a:endParaRPr lang="en-US" sz="1300" dirty="0"/>
          </a:p>
        </p:txBody>
      </p:sp>
      <p:sp>
        <p:nvSpPr>
          <p:cNvPr id="10" name="Flecha"/>
          <p:cNvSpPr/>
          <p:nvPr/>
        </p:nvSpPr>
        <p:spPr>
          <a:xfrm>
            <a:off x="3127248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1" name="Paso 2"/>
          <p:cNvSpPr/>
          <p:nvPr/>
        </p:nvSpPr>
        <p:spPr>
          <a:xfrm>
            <a:off x="3392424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2" name="Icono fondo"/>
          <p:cNvSpPr/>
          <p:nvPr/>
        </p:nvSpPr>
        <p:spPr>
          <a:xfrm>
            <a:off x="3666744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3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054" y="2297430"/>
            <a:ext cx="388620" cy="388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66744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666744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666744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y redes profesionales para identificar empresas y áreas de compra.</a:t>
            </a:r>
            <a:endParaRPr lang="en-US" sz="1300" dirty="0"/>
          </a:p>
        </p:txBody>
      </p:sp>
      <p:sp>
        <p:nvSpPr>
          <p:cNvPr id="17" name="Flecha"/>
          <p:cNvSpPr/>
          <p:nvPr/>
        </p:nvSpPr>
        <p:spPr>
          <a:xfrm>
            <a:off x="5971032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8" name="Paso 3"/>
          <p:cNvSpPr/>
          <p:nvPr/>
        </p:nvSpPr>
        <p:spPr>
          <a:xfrm>
            <a:off x="6236208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9" name="Icono fondo"/>
          <p:cNvSpPr/>
          <p:nvPr/>
        </p:nvSpPr>
        <p:spPr>
          <a:xfrm>
            <a:off x="6510528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0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838" y="22974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10528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510528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la base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510528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Empresa, ubicación, línea de interés y contacto, ordenados para ventas.</a:t>
            </a:r>
            <a:endParaRPr lang="en-US" sz="1300" dirty="0"/>
          </a:p>
        </p:txBody>
      </p:sp>
      <p:sp>
        <p:nvSpPr>
          <p:cNvPr id="24" name="Flecha"/>
          <p:cNvSpPr/>
          <p:nvPr/>
        </p:nvSpPr>
        <p:spPr>
          <a:xfrm>
            <a:off x="8814816" y="333756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25" name="Paso 4"/>
          <p:cNvSpPr/>
          <p:nvPr/>
        </p:nvSpPr>
        <p:spPr>
          <a:xfrm>
            <a:off x="9079992" y="18288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6" name="Icono fondo"/>
          <p:cNvSpPr/>
          <p:nvPr/>
        </p:nvSpPr>
        <p:spPr>
          <a:xfrm>
            <a:off x="9354312" y="2103120"/>
            <a:ext cx="777240" cy="77724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7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8622" y="2297430"/>
            <a:ext cx="388620" cy="3886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354312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9354312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Contactar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354312" y="37947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acercamiento y seguimiento con WhatsApp y formularios del nuevo sitio.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documentado y base de datos de clientes potenciales en México.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usa información pública. No se prometen volumen de prospectos ni cierres.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impresión de EuroTex en internet</a:t>
            </a:r>
            <a:endParaRPr lang="en-US" sz="3200" dirty="0"/>
          </a:p>
        </p:txBody>
      </p:sp>
      <p:sp>
        <p:nvSpPr>
          <p:cNvPr id="4" name="Hoy"/>
          <p:cNvSpPr/>
          <p:nvPr/>
        </p:nvSpPr>
        <p:spPr>
          <a:xfrm>
            <a:off x="548640" y="155448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2402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 y textos de ejemplo (lorem ipsum)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y pie de página en inglés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 difícil de usar en celular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sin una vista por marca</a:t>
            </a:r>
            <a:endParaRPr lang="en-US" sz="1600" dirty="0"/>
          </a:p>
        </p:txBody>
      </p:sp>
      <p:sp>
        <p:nvSpPr>
          <p:cNvPr id="7" name="Flecha"/>
          <p:cNvSpPr/>
          <p:nvPr/>
        </p:nvSpPr>
        <p:spPr>
          <a:xfrm>
            <a:off x="5852160" y="3246120"/>
            <a:ext cx="457200" cy="45720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8" name="Con la propuesta"/>
          <p:cNvSpPr/>
          <p:nvPr/>
        </p:nvSpPr>
        <p:spPr>
          <a:xfrm>
            <a:off x="6400800" y="155448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2F6BFF">
              <a:alpha val="40000"/>
            </a:srgbClr>
          </a:solidFill>
          <a:ln w="15875">
            <a:solidFill>
              <a:srgbClr val="47CD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75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PROPUESTA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22402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Moderna: marca renovada y sitio 100% en español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Tecnológica: catálogo claro y cotización en un clic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del mercado: casos reales y marcas a la vista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 rápida: WhatsApp y formularios directos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Columna «Hoy»: revisión de contenido público, 6 de octubre de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 la web: módulos a la medida</a:t>
            </a:r>
            <a:endParaRPr lang="en-US" sz="3200" dirty="0"/>
          </a:p>
        </p:txBody>
      </p:sp>
      <p:sp>
        <p:nvSpPr>
          <p:cNvPr id="4" name="Módulo 1"/>
          <p:cNvSpPr/>
          <p:nvPr/>
        </p:nvSpPr>
        <p:spPr>
          <a:xfrm>
            <a:off x="548640" y="150876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Icono fondo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6" name="Image 0" descr="ic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7373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desde cero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Prospectos, oportunidades, cotizaciones y tareas según su proceso comercial.</a:t>
            </a:r>
            <a:endParaRPr lang="en-US" sz="1300" dirty="0"/>
          </a:p>
        </p:txBody>
      </p:sp>
      <p:sp>
        <p:nvSpPr>
          <p:cNvPr id="9" name="Módulo 2"/>
          <p:cNvSpPr/>
          <p:nvPr/>
        </p:nvSpPr>
        <p:spPr>
          <a:xfrm>
            <a:off x="3794760" y="150876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0" name="Icono fondo"/>
          <p:cNvSpPr/>
          <p:nvPr/>
        </p:nvSpPr>
        <p:spPr>
          <a:xfrm>
            <a:off x="4023360" y="173736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1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950" y="188595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54880" y="17373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Portales web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023360" y="24688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o distribuidores con acceso a documentos, solicitudes y seguimiento.</a:t>
            </a:r>
            <a:endParaRPr lang="en-US" sz="1300" dirty="0"/>
          </a:p>
        </p:txBody>
      </p:sp>
      <p:sp>
        <p:nvSpPr>
          <p:cNvPr id="14" name="Módulo 3"/>
          <p:cNvSpPr/>
          <p:nvPr/>
        </p:nvSpPr>
        <p:spPr>
          <a:xfrm>
            <a:off x="548640" y="365760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5" name="Icono fondo"/>
          <p:cNvSpPr/>
          <p:nvPr/>
        </p:nvSpPr>
        <p:spPr>
          <a:xfrm>
            <a:off x="777240" y="388620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16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034790"/>
            <a:ext cx="297180" cy="2971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3886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 propios para reducir captura repetida y trabajo manual.</a:t>
            </a:r>
            <a:endParaRPr lang="en-US" sz="1300" dirty="0"/>
          </a:p>
        </p:txBody>
      </p:sp>
      <p:sp>
        <p:nvSpPr>
          <p:cNvPr id="19" name="Módulo 4"/>
          <p:cNvSpPr/>
          <p:nvPr/>
        </p:nvSpPr>
        <p:spPr>
          <a:xfrm>
            <a:off x="3794760" y="3657600"/>
            <a:ext cx="3108960" cy="1965960"/>
          </a:xfrm>
          <a:prstGeom prst="roundRect">
            <a:avLst>
              <a:gd name="adj" fmla="val 3721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0" name="Icono fondo"/>
          <p:cNvSpPr/>
          <p:nvPr/>
        </p:nvSpPr>
        <p:spPr>
          <a:xfrm>
            <a:off x="4023360" y="3886200"/>
            <a:ext cx="594360" cy="594360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pic>
        <p:nvPicPr>
          <p:cNvPr id="21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950" y="4034790"/>
            <a:ext cx="297180" cy="2971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754880" y="3886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Integraciones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402336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con ERP, plataformas y servicios externos, según sus accesos.</a:t>
            </a:r>
            <a:endParaRPr lang="en-US" sz="1300" dirty="0"/>
          </a:p>
        </p:txBody>
      </p:sp>
      <p:sp>
        <p:nvSpPr>
          <p:cNvPr id="24" name="Inteligencia de negocio"/>
          <p:cNvSpPr/>
          <p:nvPr/>
        </p:nvSpPr>
        <p:spPr>
          <a:xfrm>
            <a:off x="7223760" y="1508760"/>
            <a:ext cx="4389120" cy="4114800"/>
          </a:xfrm>
          <a:prstGeom prst="roundRect">
            <a:avLst>
              <a:gd name="adj" fmla="val 1778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5" name="Icono fondo"/>
          <p:cNvSpPr/>
          <p:nvPr/>
        </p:nvSpPr>
        <p:spPr>
          <a:xfrm>
            <a:off x="7498080" y="1783080"/>
            <a:ext cx="594360" cy="594360"/>
          </a:xfrm>
          <a:prstGeom prst="ellipse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pic>
        <p:nvPicPr>
          <p:cNvPr id="26" name="Image 4" descr="icon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670" y="1931670"/>
            <a:ext cx="297180" cy="2971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275320" y="1783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Inteligencia de negocio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7498080" y="2606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Tableros con datos de la web, del CRM y de las fuentes que EuroTex autorice.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7498080" y="352044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por línea de producto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Cotizaciones y tasa de cierre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por asesor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Tiempos de atención y seguimiento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opcionales con alcance y cotización propios. Viabilidad sujeta a APIs, permisos y documentación.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de trabajo por fases</a:t>
            </a:r>
            <a:endParaRPr lang="en-US" sz="3200" dirty="0"/>
          </a:p>
        </p:txBody>
      </p:sp>
      <p:sp>
        <p:nvSpPr>
          <p:cNvPr id="4" name="Fase 1"/>
          <p:cNvSpPr/>
          <p:nvPr/>
        </p:nvSpPr>
        <p:spPr>
          <a:xfrm>
            <a:off x="548640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Levantamiento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contenidos, marcas y servicios, accesos y responsables.</a:t>
            </a:r>
            <a:endParaRPr lang="en-US" sz="1400" dirty="0"/>
          </a:p>
        </p:txBody>
      </p:sp>
      <p:sp>
        <p:nvSpPr>
          <p:cNvPr id="8" name="Flecha"/>
          <p:cNvSpPr/>
          <p:nvPr/>
        </p:nvSpPr>
        <p:spPr>
          <a:xfrm>
            <a:off x="3127248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9" name="Fase 2"/>
          <p:cNvSpPr/>
          <p:nvPr/>
        </p:nvSpPr>
        <p:spPr>
          <a:xfrm>
            <a:off x="3392424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66744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666744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y diseño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Logotipo, guía visual y propuesta de sitio que EuroTex valida antes de programar.</a:t>
            </a:r>
            <a:endParaRPr lang="en-US" sz="1400" dirty="0"/>
          </a:p>
        </p:txBody>
      </p:sp>
      <p:sp>
        <p:nvSpPr>
          <p:cNvPr id="13" name="Flecha"/>
          <p:cNvSpPr/>
          <p:nvPr/>
        </p:nvSpPr>
        <p:spPr>
          <a:xfrm>
            <a:off x="5971032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4" name="Fase 3"/>
          <p:cNvSpPr/>
          <p:nvPr/>
        </p:nvSpPr>
        <p:spPr>
          <a:xfrm>
            <a:off x="6236208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10528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510528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y lanzamiento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10528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Construcción, catálogo, contacto, pruebas, migración acordada y capacitación.</a:t>
            </a:r>
            <a:endParaRPr lang="en-US" sz="1400" dirty="0"/>
          </a:p>
        </p:txBody>
      </p:sp>
      <p:sp>
        <p:nvSpPr>
          <p:cNvPr id="18" name="Flecha"/>
          <p:cNvSpPr/>
          <p:nvPr/>
        </p:nvSpPr>
        <p:spPr>
          <a:xfrm>
            <a:off x="8814816" y="3291840"/>
            <a:ext cx="246888" cy="274320"/>
          </a:xfrm>
          <a:prstGeom prst="rightArrow">
            <a:avLst/>
          </a:prstGeom>
          <a:solidFill>
            <a:srgbClr val="47CDFF"/>
          </a:solidFill>
          <a:ln w="12700">
            <a:solidFill>
              <a:srgbClr val="47CDFF"/>
            </a:solidFill>
            <a:prstDash val="solid"/>
          </a:ln>
        </p:spPr>
      </p:sp>
      <p:sp>
        <p:nvSpPr>
          <p:cNvPr id="19" name="Fase 4"/>
          <p:cNvSpPr/>
          <p:nvPr/>
        </p:nvSpPr>
        <p:spPr>
          <a:xfrm>
            <a:off x="9079992" y="1737360"/>
            <a:ext cx="2560320" cy="3474720"/>
          </a:xfrm>
          <a:prstGeom prst="roundRect">
            <a:avLst>
              <a:gd name="adj" fmla="val 2857"/>
            </a:avLst>
          </a:prstGeom>
          <a:solidFill>
            <a:srgbClr val="0A1530">
              <a:alpha val="75000"/>
            </a:srgbClr>
          </a:solidFill>
          <a:ln w="9525">
            <a:solidFill>
              <a:srgbClr val="27508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54312" y="19659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7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1" name="Text 18"/>
          <p:cNvSpPr txBox="1"/>
          <p:nvPr/>
        </p:nvSpPr>
        <p:spPr>
          <a:xfrm>
            <a:off x="9354312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 y evolución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54312" y="3749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clientes potenciales y módulos según prioridades.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1A3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Plazos, entregables e inversión se definen en la cotización formal.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paso: reunión de alcance y cotización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Agendemos una reunión para confirmar el catálogo, los contenidos y las prioridades de EuroTex. Con eso preparamos una cotización formal.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4747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8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Podemos comenzar por el eje que más urgencia tenga: identidad, sitio web o prospección.</a:t>
            </a:r>
            <a:endParaRPr lang="en-US" sz="1600" dirty="0"/>
          </a:p>
        </p:txBody>
      </p:sp>
      <p:sp>
        <p:nvSpPr>
          <p:cNvPr id="6" name="Tarjeta de contacto"/>
          <p:cNvSpPr/>
          <p:nvPr/>
        </p:nvSpPr>
        <p:spPr>
          <a:xfrm>
            <a:off x="6583680" y="1645920"/>
            <a:ext cx="502920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SYMTHRE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1828800"/>
            <a:ext cx="448056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49440" y="3108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</a:t>
            </a:r>
            <a:endParaRPr lang="en-US" sz="2000" dirty="0"/>
          </a:p>
        </p:txBody>
      </p:sp>
      <p:pic>
        <p:nvPicPr>
          <p:cNvPr id="9" name="Image 1" descr="ico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84048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06640" y="3794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valpuestagerardo@gmail.com</a:t>
            </a:r>
            <a:endParaRPr lang="en-US" sz="1500" dirty="0"/>
          </a:p>
        </p:txBody>
      </p:sp>
      <p:pic>
        <p:nvPicPr>
          <p:cNvPr id="11" name="Image 2" descr="ico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38912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40664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dylan.zamorac@gmail.com</a:t>
            </a:r>
            <a:endParaRPr lang="en-US" sz="1500" dirty="0"/>
          </a:p>
        </p:txBody>
      </p:sp>
      <p:pic>
        <p:nvPicPr>
          <p:cNvPr id="13" name="Image 3" descr="icon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937760"/>
            <a:ext cx="274320" cy="27432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406640" y="4892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gerardovalpuesta.vercel.app/portfolio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1A3B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YMTHREE EuroTex">
  <a:themeElements>
    <a:clrScheme name="SYMTHREE EuroTex">
      <a:dk1>
        <a:srgbClr val="101A2B"/>
      </a:dk1>
      <a:lt1>
        <a:srgbClr val="FFFFFF"/>
      </a:lt1>
      <a:dk2>
        <a:srgbClr val="0A1530"/>
      </a:dk2>
      <a:lt2>
        <a:srgbClr val="C8D8EF"/>
      </a:lt2>
      <a:accent1>
        <a:srgbClr val="47CDFF"/>
      </a:accent1>
      <a:accent2>
        <a:srgbClr val="2F6BFF"/>
      </a:accent2>
      <a:accent3>
        <a:srgbClr val="0B2A5B"/>
      </a:accent3>
      <a:accent4>
        <a:srgbClr val="3B4652"/>
      </a:accent4>
      <a:accent5>
        <a:srgbClr val="91A3BD"/>
      </a:accent5>
      <a:accent6>
        <a:srgbClr val="25D366"/>
      </a:accent6>
      <a:hlink>
        <a:srgbClr val="47CDFF"/>
      </a:hlink>
      <a:folHlink>
        <a:srgbClr val="91A3BD"/>
      </a:folHlink>
    </a:clrScheme>
    <a:fontScheme name="SYMTHREE EuroTe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SYMTHREE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para EuroTex — SYMTHREE</dc:title>
  <dc:subject>PptxGenJS Presentation</dc:subject>
  <dc:creator>SYMTHREE · Gerardo Valpuesta</dc:creator>
  <cp:lastModifiedBy>SYMTHREE · Gerardo Valpuesta</cp:lastModifiedBy>
  <cp:revision>1</cp:revision>
  <dcterms:created xsi:type="dcterms:W3CDTF">2026-10-07T07:00:39Z</dcterms:created>
  <dcterms:modified xsi:type="dcterms:W3CDTF">2026-10-07T07:00:39Z</dcterms:modified>
</cp:coreProperties>
</file>