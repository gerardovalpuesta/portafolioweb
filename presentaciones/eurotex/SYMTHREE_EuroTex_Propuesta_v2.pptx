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Quiénes somos" id="{7507ffa9-c7f4-4a00-c9be-315d81e71ed5}">
          <p14:sldIdLst>
            <p14:sldId id="256"/>
            <p14:sldId id="257"/>
            <p14:sldId id="258"/>
          </p14:sldIdLst>
        </p14:section>
        <p14:section name="Diagnóstico" id="{89943d5e-a1c3-892a-c1bf-874787b6a54e}">
          <p14:sldIdLst>
            <p14:sldId id="259"/>
          </p14:sldIdLst>
        </p14:section>
        <p14:section name="Propuesta" id="{1cd763e2-5f19-a040-d320-7338285e5a1d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Cierre" id="{21c8e7a6-a442-ca21-6b4f-eaa042d32b75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OSCURA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1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1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ondo de hilos azule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80960" y="0"/>
            <a:ext cx="4507992" cy="6858000"/>
          </a:xfrm>
          <a:prstGeom prst="rect">
            <a:avLst/>
          </a:prstGeom>
        </p:spPr>
      </p:pic>
      <p:pic>
        <p:nvPicPr>
          <p:cNvPr id="3" name="Image 1" descr="SYMTHREE Enterprise Technology &amp; Intelligenc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" y="640080"/>
            <a:ext cx="3291840" cy="10972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2286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F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PARA EUROTEX</a:t>
            </a:r>
            <a:endParaRPr lang="en-US" sz="14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2743200"/>
            <a:ext cx="6675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0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Identidad, web y crecimiento comercial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448056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marca renovada, un sitio que facilita la cotización y nuevas vías para encontrar clientes en la industria textil.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6035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Octubre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SYMTHREE: tecnología a la medida de su operación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7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Technology &amp; Intelligence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Somos una empresa de tecnología que diseña y construye sitios web, sistemas a la medida, automatizaciones con inteligencia artificial e integraciones entre plataformas.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EuroTex, un solo equipo cubre la imagen, el sitio web y las herramientas comerciales que lo acompañan.</a:t>
            </a:r>
            <a:endParaRPr lang="en-US" sz="1600" dirty="0"/>
          </a:p>
        </p:txBody>
      </p:sp>
      <p:sp>
        <p:nvSpPr>
          <p:cNvPr id="6" name="Dato 1"/>
          <p:cNvSpPr/>
          <p:nvPr/>
        </p:nvSpPr>
        <p:spPr>
          <a:xfrm>
            <a:off x="6400800" y="150876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0A1530">
              <a:alpha val="75000"/>
            </a:srgbClr>
          </a:solidFill>
          <a:ln w="9525">
            <a:solidFill>
              <a:srgbClr val="2750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29400" y="150876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7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6+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150876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años de experiencia en software y automatización</a:t>
            </a:r>
            <a:endParaRPr lang="en-US" sz="1400" dirty="0"/>
          </a:p>
        </p:txBody>
      </p:sp>
      <p:sp>
        <p:nvSpPr>
          <p:cNvPr id="9" name="Dato 2"/>
          <p:cNvSpPr/>
          <p:nvPr/>
        </p:nvSpPr>
        <p:spPr>
          <a:xfrm>
            <a:off x="6400800" y="283464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0A1530">
              <a:alpha val="75000"/>
            </a:srgbClr>
          </a:solidFill>
          <a:ln w="9525">
            <a:solidFill>
              <a:srgbClr val="2750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29400" y="283464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7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283464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tiempo operativo con nuestro agente fiscal autónomo (AgentSat)</a:t>
            </a:r>
            <a:endParaRPr lang="en-US" sz="1400" dirty="0"/>
          </a:p>
        </p:txBody>
      </p:sp>
      <p:sp>
        <p:nvSpPr>
          <p:cNvPr id="12" name="Dato 3"/>
          <p:cNvSpPr/>
          <p:nvPr/>
        </p:nvSpPr>
        <p:spPr>
          <a:xfrm>
            <a:off x="6400800" y="416052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0A1530">
              <a:alpha val="75000"/>
            </a:srgbClr>
          </a:solidFill>
          <a:ln w="9525">
            <a:solidFill>
              <a:srgbClr val="2750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29400" y="416052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7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C5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416052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licitación ganada en 2021 con una app de campo</a:t>
            </a:r>
            <a:endParaRPr lang="en-US" sz="1400" dirty="0"/>
          </a:p>
        </p:txBody>
      </p:sp>
      <p:sp>
        <p:nvSpPr>
          <p:cNvPr id="15" name="Etiqueta"/>
          <p:cNvSpPr/>
          <p:nvPr/>
        </p:nvSpPr>
        <p:spPr>
          <a:xfrm>
            <a:off x="548640" y="56692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2F6BFF">
              <a:alpha val="30000"/>
            </a:srgbClr>
          </a:solidFill>
          <a:ln w="6350">
            <a:solidFill>
              <a:srgbClr val="47CD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6692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Sitios web</a:t>
            </a:r>
            <a:endParaRPr lang="en-US" sz="1100" dirty="0"/>
          </a:p>
        </p:txBody>
      </p:sp>
      <p:sp>
        <p:nvSpPr>
          <p:cNvPr id="17" name="Etiqueta"/>
          <p:cNvSpPr/>
          <p:nvPr/>
        </p:nvSpPr>
        <p:spPr>
          <a:xfrm>
            <a:off x="1874520" y="566928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2F6BFF">
              <a:alpha val="30000"/>
            </a:srgbClr>
          </a:solidFill>
          <a:ln w="6350">
            <a:solidFill>
              <a:srgbClr val="47CD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874520" y="56692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ERP y CRM</a:t>
            </a:r>
            <a:endParaRPr lang="en-US" sz="1100" dirty="0"/>
          </a:p>
        </p:txBody>
      </p:sp>
      <p:sp>
        <p:nvSpPr>
          <p:cNvPr id="19" name="Etiqueta"/>
          <p:cNvSpPr/>
          <p:nvPr/>
        </p:nvSpPr>
        <p:spPr>
          <a:xfrm>
            <a:off x="3749040" y="566928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2F6BFF">
              <a:alpha val="30000"/>
            </a:srgbClr>
          </a:solidFill>
          <a:ln w="6350">
            <a:solidFill>
              <a:srgbClr val="47CD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49040" y="56692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 e IA</a:t>
            </a:r>
            <a:endParaRPr lang="en-US" sz="1100" dirty="0"/>
          </a:p>
        </p:txBody>
      </p:sp>
      <p:sp>
        <p:nvSpPr>
          <p:cNvPr id="21" name="Etiqueta"/>
          <p:cNvSpPr/>
          <p:nvPr/>
        </p:nvSpPr>
        <p:spPr>
          <a:xfrm>
            <a:off x="5623560" y="566928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2F6BFF">
              <a:alpha val="30000"/>
            </a:srgbClr>
          </a:solidFill>
          <a:ln w="6350">
            <a:solidFill>
              <a:srgbClr val="47CD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23560" y="56692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de APIs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A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y resultados tomados de nuestro portafolio: gerardovalpuesta.vercel.app/portfolio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1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Proyectos que ya operan</a:t>
            </a:r>
            <a:endParaRPr lang="en-US" sz="3200" dirty="0"/>
          </a:p>
        </p:txBody>
      </p:sp>
      <p:sp>
        <p:nvSpPr>
          <p:cNvPr id="3" name="AgentSat"/>
          <p:cNvSpPr/>
          <p:nvPr/>
        </p:nvSpPr>
        <p:spPr>
          <a:xfrm>
            <a:off x="548640" y="1508760"/>
            <a:ext cx="4754880" cy="4526280"/>
          </a:xfrm>
          <a:prstGeom prst="roundRect">
            <a:avLst>
              <a:gd name="adj" fmla="val 1616"/>
            </a:avLst>
          </a:prstGeom>
          <a:solidFill>
            <a:srgbClr val="0A1530">
              <a:alpha val="75000"/>
            </a:srgbClr>
          </a:solidFill>
          <a:ln w="9525">
            <a:solidFill>
              <a:srgbClr val="27508F"/>
            </a:solidFill>
            <a:prstDash val="solid"/>
          </a:ln>
        </p:spPr>
      </p:sp>
      <p:sp>
        <p:nvSpPr>
          <p:cNvPr id="4" name="Icono fondo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47CDFF"/>
          </a:solidFill>
          <a:ln w="12700">
            <a:solidFill>
              <a:srgbClr val="47CDFF"/>
            </a:solidFill>
            <a:prstDash val="solid"/>
          </a:ln>
        </p:spPr>
      </p:sp>
      <p:pic>
        <p:nvPicPr>
          <p:cNvPr id="5" name="Image 0" descr="ico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659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7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PRINCIPAL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2103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AgentSat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2608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autónomo y copiloto fiscal con IA. Gestiona accesos al SAT, resuelve CAPTCHAs y descarga facturas (CFDI) de varias empresas y RFC, y detecta riesgos fiscales.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5720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7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2651760" y="45720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tiempo operativo: de días a ~5 minutos por sesión</a:t>
            </a:r>
            <a:endParaRPr lang="en-US" sz="1300" dirty="0"/>
          </a:p>
        </p:txBody>
      </p:sp>
      <p:sp>
        <p:nvSpPr>
          <p:cNvPr id="11" name="Proyecto 1"/>
          <p:cNvSpPr/>
          <p:nvPr/>
        </p:nvSpPr>
        <p:spPr>
          <a:xfrm>
            <a:off x="5532120" y="1508760"/>
            <a:ext cx="2971800" cy="2148840"/>
          </a:xfrm>
          <a:prstGeom prst="roundRect">
            <a:avLst>
              <a:gd name="adj" fmla="val 3404"/>
            </a:avLst>
          </a:prstGeom>
          <a:solidFill>
            <a:srgbClr val="0A1530">
              <a:alpha val="75000"/>
            </a:srgbClr>
          </a:solidFill>
          <a:ln w="9525">
            <a:solidFill>
              <a:srgbClr val="27508F"/>
            </a:solidFill>
            <a:prstDash val="solid"/>
          </a:ln>
        </p:spPr>
      </p:sp>
      <p:sp>
        <p:nvSpPr>
          <p:cNvPr id="12" name="Icono fondo"/>
          <p:cNvSpPr/>
          <p:nvPr/>
        </p:nvSpPr>
        <p:spPr>
          <a:xfrm>
            <a:off x="5760720" y="1737360"/>
            <a:ext cx="548640" cy="5486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pic>
        <p:nvPicPr>
          <p:cNvPr id="13" name="Image 1" descr="icon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8745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760720" y="2423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de WhatsApp con IA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760720" y="28346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Atención inicial inmediata y seguimiento automático de prospectos.</a:t>
            </a:r>
            <a:endParaRPr lang="en-US" sz="1200" dirty="0"/>
          </a:p>
        </p:txBody>
      </p:sp>
      <p:sp>
        <p:nvSpPr>
          <p:cNvPr id="16" name="Proyecto 2"/>
          <p:cNvSpPr/>
          <p:nvPr/>
        </p:nvSpPr>
        <p:spPr>
          <a:xfrm>
            <a:off x="8641080" y="1508760"/>
            <a:ext cx="2971800" cy="2148840"/>
          </a:xfrm>
          <a:prstGeom prst="roundRect">
            <a:avLst>
              <a:gd name="adj" fmla="val 3404"/>
            </a:avLst>
          </a:prstGeom>
          <a:solidFill>
            <a:srgbClr val="0A1530">
              <a:alpha val="75000"/>
            </a:srgbClr>
          </a:solidFill>
          <a:ln w="9525">
            <a:solidFill>
              <a:srgbClr val="27508F"/>
            </a:solidFill>
            <a:prstDash val="solid"/>
          </a:ln>
        </p:spPr>
      </p:sp>
      <p:sp>
        <p:nvSpPr>
          <p:cNvPr id="17" name="Icono fondo"/>
          <p:cNvSpPr/>
          <p:nvPr/>
        </p:nvSpPr>
        <p:spPr>
          <a:xfrm>
            <a:off x="8869680" y="1737360"/>
            <a:ext cx="548640" cy="5486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pic>
        <p:nvPicPr>
          <p:cNvPr id="18" name="Image 2" descr="icon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18745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869680" y="2423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XAMAI 2.0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869680" y="28346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menos tiempo de carga inicial y 90% más satisfacción de usuarios.</a:t>
            </a:r>
            <a:endParaRPr lang="en-US" sz="1200" dirty="0"/>
          </a:p>
        </p:txBody>
      </p:sp>
      <p:sp>
        <p:nvSpPr>
          <p:cNvPr id="21" name="Proyecto 3"/>
          <p:cNvSpPr/>
          <p:nvPr/>
        </p:nvSpPr>
        <p:spPr>
          <a:xfrm>
            <a:off x="5532120" y="3794760"/>
            <a:ext cx="2971800" cy="2148840"/>
          </a:xfrm>
          <a:prstGeom prst="roundRect">
            <a:avLst>
              <a:gd name="adj" fmla="val 3404"/>
            </a:avLst>
          </a:prstGeom>
          <a:solidFill>
            <a:srgbClr val="0A1530">
              <a:alpha val="75000"/>
            </a:srgbClr>
          </a:solidFill>
          <a:ln w="9525">
            <a:solidFill>
              <a:srgbClr val="27508F"/>
            </a:solidFill>
            <a:prstDash val="solid"/>
          </a:ln>
        </p:spPr>
      </p:sp>
      <p:sp>
        <p:nvSpPr>
          <p:cNvPr id="22" name="Icono fondo"/>
          <p:cNvSpPr/>
          <p:nvPr/>
        </p:nvSpPr>
        <p:spPr>
          <a:xfrm>
            <a:off x="5760720" y="4023360"/>
            <a:ext cx="548640" cy="5486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pic>
        <p:nvPicPr>
          <p:cNvPr id="23" name="Image 3" descr="icon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416052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760720" y="4709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TersaNet (ERP)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5760720" y="51206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Cotizaciones e inventario con reportes PDF; sin errores de cálculo.</a:t>
            </a:r>
            <a:endParaRPr lang="en-US" sz="1200" dirty="0"/>
          </a:p>
        </p:txBody>
      </p:sp>
      <p:sp>
        <p:nvSpPr>
          <p:cNvPr id="26" name="Proyecto 4"/>
          <p:cNvSpPr/>
          <p:nvPr/>
        </p:nvSpPr>
        <p:spPr>
          <a:xfrm>
            <a:off x="8641080" y="3794760"/>
            <a:ext cx="2971800" cy="2148840"/>
          </a:xfrm>
          <a:prstGeom prst="roundRect">
            <a:avLst>
              <a:gd name="adj" fmla="val 3404"/>
            </a:avLst>
          </a:prstGeom>
          <a:solidFill>
            <a:srgbClr val="0A1530">
              <a:alpha val="75000"/>
            </a:srgbClr>
          </a:solidFill>
          <a:ln w="9525">
            <a:solidFill>
              <a:srgbClr val="27508F"/>
            </a:solidFill>
            <a:prstDash val="solid"/>
          </a:ln>
        </p:spPr>
      </p:sp>
      <p:sp>
        <p:nvSpPr>
          <p:cNvPr id="27" name="Icono fondo"/>
          <p:cNvSpPr/>
          <p:nvPr/>
        </p:nvSpPr>
        <p:spPr>
          <a:xfrm>
            <a:off x="8869680" y="4023360"/>
            <a:ext cx="548640" cy="5486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pic>
        <p:nvPicPr>
          <p:cNvPr id="28" name="Image 4" descr="icon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0" y="416052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869680" y="4709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 n8n y MCP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8869680" y="51206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50% menos trabajo manual en captura y sincronización.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54864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A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reportados en nuestro portafolio: gerardovalpuesta.vercel.app/portfolio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1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Oportunidades en el sitio actual</a:t>
            </a:r>
            <a:endParaRPr lang="en-US" sz="3200" dirty="0"/>
          </a:p>
        </p:txBody>
      </p:sp>
      <p:sp>
        <p:nvSpPr>
          <p:cNvPr id="3" name="Oportunidad 1"/>
          <p:cNvSpPr/>
          <p:nvPr/>
        </p:nvSpPr>
        <p:spPr>
          <a:xfrm>
            <a:off x="548640" y="164592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0A1530">
              <a:alpha val="75000"/>
            </a:srgbClr>
          </a:solidFill>
          <a:ln w="9525">
            <a:solidFill>
              <a:srgbClr val="2750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8745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47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Confianza en cada sección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490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Sustituir testimonios y textos de ejemplo por casos reales autorizados y unificar el idioma.</a:t>
            </a:r>
            <a:endParaRPr lang="en-US" sz="1500" dirty="0"/>
          </a:p>
        </p:txBody>
      </p:sp>
      <p:sp>
        <p:nvSpPr>
          <p:cNvPr id="7" name="Oportunidad 2"/>
          <p:cNvSpPr/>
          <p:nvPr/>
        </p:nvSpPr>
        <p:spPr>
          <a:xfrm>
            <a:off x="4297680" y="164592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0A1530">
              <a:alpha val="75000"/>
            </a:srgbClr>
          </a:solidFill>
          <a:ln w="9525">
            <a:solidFill>
              <a:srgbClr val="2750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8745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47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ruta clara hacia la cotización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7490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Guiar al visitante desde su necesidad hasta una solicitud con datos útiles para ventas.</a:t>
            </a:r>
            <a:endParaRPr lang="en-US" sz="1500" dirty="0"/>
          </a:p>
        </p:txBody>
      </p:sp>
      <p:sp>
        <p:nvSpPr>
          <p:cNvPr id="11" name="Oportunidad 3"/>
          <p:cNvSpPr/>
          <p:nvPr/>
        </p:nvSpPr>
        <p:spPr>
          <a:xfrm>
            <a:off x="8046720" y="164592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0A1530">
              <a:alpha val="75000"/>
            </a:srgbClr>
          </a:solidFill>
          <a:ln w="9525">
            <a:solidFill>
              <a:srgbClr val="2750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8745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47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catálogo más fácil de consultar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7490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Mostrar las marcas representadas con sus servicios, fichas y consulta comercial contextual.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A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Basado en revisión de contenido público del sitio, 6 de octubre de 2026.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1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Nuestra propuesta: tres ejes para EuroTex</a:t>
            </a:r>
            <a:endParaRPr lang="en-US" sz="3200" dirty="0"/>
          </a:p>
        </p:txBody>
      </p:sp>
      <p:sp>
        <p:nvSpPr>
          <p:cNvPr id="3" name="Eje 1"/>
          <p:cNvSpPr/>
          <p:nvPr/>
        </p:nvSpPr>
        <p:spPr>
          <a:xfrm>
            <a:off x="548640" y="155448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0A1530">
              <a:alpha val="75000"/>
            </a:srgbClr>
          </a:solidFill>
          <a:ln w="9525">
            <a:solidFill>
              <a:srgbClr val="27508F"/>
            </a:solidFill>
            <a:prstDash val="solid"/>
          </a:ln>
        </p:spPr>
      </p:sp>
      <p:sp>
        <p:nvSpPr>
          <p:cNvPr id="4" name="Icono fondo"/>
          <p:cNvSpPr/>
          <p:nvPr/>
        </p:nvSpPr>
        <p:spPr>
          <a:xfrm>
            <a:off x="822960" y="1828800"/>
            <a:ext cx="822960" cy="82296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pic>
        <p:nvPicPr>
          <p:cNvPr id="5" name="Image 0" descr="ico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0345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7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 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 de marca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0040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Logotipo actualizado, profesional y nítido en digital e impreso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Colores, tipografías y formatos oficiales</a:t>
            </a:r>
            <a:endParaRPr lang="en-US" sz="1500" dirty="0"/>
          </a:p>
        </p:txBody>
      </p:sp>
      <p:sp>
        <p:nvSpPr>
          <p:cNvPr id="9" name="Eje 2"/>
          <p:cNvSpPr/>
          <p:nvPr/>
        </p:nvSpPr>
        <p:spPr>
          <a:xfrm>
            <a:off x="4297680" y="155448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0A1530">
              <a:alpha val="75000"/>
            </a:srgbClr>
          </a:solidFill>
          <a:ln w="9525">
            <a:solidFill>
              <a:srgbClr val="27508F"/>
            </a:solidFill>
            <a:prstDash val="solid"/>
          </a:ln>
        </p:spPr>
      </p:sp>
      <p:sp>
        <p:nvSpPr>
          <p:cNvPr id="10" name="Icono fondo"/>
          <p:cNvSpPr/>
          <p:nvPr/>
        </p:nvSpPr>
        <p:spPr>
          <a:xfrm>
            <a:off x="4572000" y="1828800"/>
            <a:ext cx="822960" cy="82296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pic>
        <p:nvPicPr>
          <p:cNvPr id="11" name="Image 1" descr="icon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20345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7784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7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 2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57784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Presencia digital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320040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Sitio web 100% funcional y publicado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de representadas con sus servicios</a:t>
            </a:r>
            <a:endParaRPr lang="en-US" sz="1500" dirty="0"/>
          </a:p>
        </p:txBody>
      </p:sp>
      <p:sp>
        <p:nvSpPr>
          <p:cNvPr id="15" name="Eje 3"/>
          <p:cNvSpPr/>
          <p:nvPr/>
        </p:nvSpPr>
        <p:spPr>
          <a:xfrm>
            <a:off x="8046720" y="155448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0A1530">
              <a:alpha val="75000"/>
            </a:srgbClr>
          </a:solidFill>
          <a:ln w="9525">
            <a:solidFill>
              <a:srgbClr val="27508F"/>
            </a:solidFill>
            <a:prstDash val="solid"/>
          </a:ln>
        </p:spPr>
      </p:sp>
      <p:sp>
        <p:nvSpPr>
          <p:cNvPr id="16" name="Icono fondo"/>
          <p:cNvSpPr/>
          <p:nvPr/>
        </p:nvSpPr>
        <p:spPr>
          <a:xfrm>
            <a:off x="8321040" y="1828800"/>
            <a:ext cx="822960" cy="82296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pic>
        <p:nvPicPr>
          <p:cNvPr id="17" name="Image 2" descr="icon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780" y="203454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32688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7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 3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932688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 comercial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320040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 inmediato: formularios y WhatsApp Business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Prospección digital de nuevos clientes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A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eje puede contratarse por separado o en conjunto.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1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 1 · Tres rutas para renovar el logotipo</a:t>
            </a:r>
            <a:endParaRPr lang="en-US" sz="3200" dirty="0"/>
          </a:p>
        </p:txBody>
      </p:sp>
      <p:sp>
        <p:nvSpPr>
          <p:cNvPr id="3" name="Panel logos A y B"/>
          <p:cNvSpPr/>
          <p:nvPr/>
        </p:nvSpPr>
        <p:spPr>
          <a:xfrm>
            <a:off x="548640" y="1463040"/>
            <a:ext cx="576072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Conceptos A y B de logotipo EuroTex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5760720" cy="3840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4406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Monograma tejido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 industrial con referencia al tejido textil.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3474720" y="54406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Entrelazado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Símbolo contemporáneo para materiales comerciales.</a:t>
            </a:r>
            <a:endParaRPr lang="en-US" sz="1300" dirty="0"/>
          </a:p>
        </p:txBody>
      </p:sp>
      <p:sp>
        <p:nvSpPr>
          <p:cNvPr id="7" name="Panel logo C"/>
          <p:cNvSpPr/>
          <p:nvPr/>
        </p:nvSpPr>
        <p:spPr>
          <a:xfrm>
            <a:off x="6766560" y="1463040"/>
            <a:ext cx="48463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Concepto C de logotipo EuroTex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49440" y="1554480"/>
            <a:ext cx="4480560" cy="1554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766560" y="33375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Tipográfico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logo del concepto web: marca limpia con acento azul en la X.</a:t>
            </a:r>
            <a:endParaRPr lang="en-US" sz="1400" dirty="0"/>
          </a:p>
        </p:txBody>
      </p:sp>
      <p:sp>
        <p:nvSpPr>
          <p:cNvPr id="10" name="Principio de diseño"/>
          <p:cNvSpPr/>
          <p:nvPr/>
        </p:nvSpPr>
        <p:spPr>
          <a:xfrm>
            <a:off x="6766560" y="4251960"/>
            <a:ext cx="4846320" cy="1737360"/>
          </a:xfrm>
          <a:prstGeom prst="roundRect">
            <a:avLst>
              <a:gd name="adj" fmla="val 4211"/>
            </a:avLst>
          </a:prstGeom>
          <a:solidFill>
            <a:srgbClr val="0A1530">
              <a:alpha val="75000"/>
            </a:srgbClr>
          </a:solidFill>
          <a:ln w="9525">
            <a:solidFill>
              <a:srgbClr val="27508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995160" y="4389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7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perder el enfoque de EuroTex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995160" y="480060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Modernizamos el logotipo cuidando que no pierda su esencia, para que se vea profesional y nítido tanto en formatos digitales como impresos.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A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Conceptos preliminares que se refinan junto con ustedes. La renovación de marca es opcional.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1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 1 · Una imagen unificada, seria y formal</a:t>
            </a:r>
            <a:endParaRPr lang="en-US" sz="3200" dirty="0"/>
          </a:p>
        </p:txBody>
      </p:sp>
      <p:sp>
        <p:nvSpPr>
          <p:cNvPr id="3" name="Colores"/>
          <p:cNvSpPr/>
          <p:nvPr/>
        </p:nvSpPr>
        <p:spPr>
          <a:xfrm>
            <a:off x="548640" y="150876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0A1530">
              <a:alpha val="75000"/>
            </a:srgbClr>
          </a:solidFill>
          <a:ln w="9525">
            <a:solidFill>
              <a:srgbClr val="2750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Colores oficiales</a:t>
            </a:r>
            <a:endParaRPr lang="en-US" sz="1800" dirty="0"/>
          </a:p>
        </p:txBody>
      </p:sp>
      <p:sp>
        <p:nvSpPr>
          <p:cNvPr id="5" name="Muestra Azul marino"/>
          <p:cNvSpPr/>
          <p:nvPr/>
        </p:nvSpPr>
        <p:spPr>
          <a:xfrm>
            <a:off x="777240" y="224028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0B2A5B"/>
          </a:solidFill>
          <a:ln w="12700">
            <a:solidFill>
              <a:srgbClr val="2750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91640" y="2313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marino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6334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1A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principal · #0B2A5B</a:t>
            </a:r>
            <a:endParaRPr lang="en-US" sz="1200" dirty="0"/>
          </a:p>
        </p:txBody>
      </p:sp>
      <p:sp>
        <p:nvSpPr>
          <p:cNvPr id="8" name="Muestra Azul acento"/>
          <p:cNvSpPr/>
          <p:nvPr/>
        </p:nvSpPr>
        <p:spPr>
          <a:xfrm>
            <a:off x="777240" y="315468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1E6BFF"/>
          </a:solidFill>
          <a:ln w="12700">
            <a:solidFill>
              <a:srgbClr val="2750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91640" y="32278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acento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3547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1A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Botones y detalles · #1E6BFF</a:t>
            </a:r>
            <a:endParaRPr lang="en-US" sz="1200" dirty="0"/>
          </a:p>
        </p:txBody>
      </p:sp>
      <p:sp>
        <p:nvSpPr>
          <p:cNvPr id="11" name="Muestra Gris grafito"/>
          <p:cNvSpPr/>
          <p:nvPr/>
        </p:nvSpPr>
        <p:spPr>
          <a:xfrm>
            <a:off x="777240" y="406908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3B4652"/>
          </a:solidFill>
          <a:ln w="12700">
            <a:solidFill>
              <a:srgbClr val="2750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691640" y="41422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Gris grafito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44622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1A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Textos y apoyo · #3B4652</a:t>
            </a:r>
            <a:endParaRPr lang="en-US" sz="1200" dirty="0"/>
          </a:p>
        </p:txBody>
      </p:sp>
      <p:sp>
        <p:nvSpPr>
          <p:cNvPr id="14" name="Muestra Blanco"/>
          <p:cNvSpPr/>
          <p:nvPr/>
        </p:nvSpPr>
        <p:spPr>
          <a:xfrm>
            <a:off x="777240" y="498348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750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691640" y="50566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Blanco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53766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1A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· #FFFFFF</a:t>
            </a:r>
            <a:endParaRPr lang="en-US" sz="1200" dirty="0"/>
          </a:p>
        </p:txBody>
      </p:sp>
      <p:sp>
        <p:nvSpPr>
          <p:cNvPr id="17" name="Tipografías"/>
          <p:cNvSpPr/>
          <p:nvPr/>
        </p:nvSpPr>
        <p:spPr>
          <a:xfrm>
            <a:off x="4434840" y="150876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0A1530">
              <a:alpha val="75000"/>
            </a:srgbClr>
          </a:solidFill>
          <a:ln w="9525">
            <a:solidFill>
              <a:srgbClr val="27508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6344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Tipografías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22860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47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60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3337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Títulos: sans-serif geométrica en negritas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41148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40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4892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Textos: sans-serif legible en pantalla e impresión</a:t>
            </a:r>
            <a:endParaRPr lang="en-US" sz="1400" dirty="0"/>
          </a:p>
        </p:txBody>
      </p:sp>
      <p:sp>
        <p:nvSpPr>
          <p:cNvPr id="23" name="Formatos de uso"/>
          <p:cNvSpPr/>
          <p:nvPr/>
        </p:nvSpPr>
        <p:spPr>
          <a:xfrm>
            <a:off x="8229600" y="1508760"/>
            <a:ext cx="3383280" cy="4480560"/>
          </a:xfrm>
          <a:prstGeom prst="roundRect">
            <a:avLst>
              <a:gd name="adj" fmla="val 2162"/>
            </a:avLst>
          </a:prstGeom>
          <a:solidFill>
            <a:srgbClr val="0A1530">
              <a:alpha val="75000"/>
            </a:srgbClr>
          </a:solidFill>
          <a:ln w="9525">
            <a:solidFill>
              <a:srgbClr val="27508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58200" y="1691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Formatos de uso</a:t>
            </a:r>
            <a:endParaRPr lang="en-US" sz="1800" dirty="0"/>
          </a:p>
        </p:txBody>
      </p:sp>
      <p:sp>
        <p:nvSpPr>
          <p:cNvPr id="25" name="Etiqueta"/>
          <p:cNvSpPr/>
          <p:nvPr/>
        </p:nvSpPr>
        <p:spPr>
          <a:xfrm>
            <a:off x="8458200" y="2286000"/>
            <a:ext cx="2926080" cy="292608"/>
          </a:xfrm>
          <a:prstGeom prst="roundRect">
            <a:avLst>
              <a:gd name="adj" fmla="val 50000"/>
            </a:avLst>
          </a:prstGeom>
          <a:solidFill>
            <a:srgbClr val="2F6BFF">
              <a:alpha val="30000"/>
            </a:srgbClr>
          </a:solidFill>
          <a:ln w="6350">
            <a:solidFill>
              <a:srgbClr val="47CD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58200" y="22860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Sitio web y favicon</a:t>
            </a:r>
            <a:endParaRPr lang="en-US" sz="1100" dirty="0"/>
          </a:p>
        </p:txBody>
      </p:sp>
      <p:sp>
        <p:nvSpPr>
          <p:cNvPr id="27" name="Etiqueta"/>
          <p:cNvSpPr/>
          <p:nvPr/>
        </p:nvSpPr>
        <p:spPr>
          <a:xfrm>
            <a:off x="8458200" y="2852928"/>
            <a:ext cx="2926080" cy="292608"/>
          </a:xfrm>
          <a:prstGeom prst="roundRect">
            <a:avLst>
              <a:gd name="adj" fmla="val 50000"/>
            </a:avLst>
          </a:prstGeom>
          <a:solidFill>
            <a:srgbClr val="2F6BFF">
              <a:alpha val="30000"/>
            </a:srgbClr>
          </a:solidFill>
          <a:ln w="6350">
            <a:solidFill>
              <a:srgbClr val="47CD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58200" y="28529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Cotizaciones en PDF</a:t>
            </a:r>
            <a:endParaRPr lang="en-US" sz="1100" dirty="0"/>
          </a:p>
        </p:txBody>
      </p:sp>
      <p:sp>
        <p:nvSpPr>
          <p:cNvPr id="29" name="Etiqueta"/>
          <p:cNvSpPr/>
          <p:nvPr/>
        </p:nvSpPr>
        <p:spPr>
          <a:xfrm>
            <a:off x="8458200" y="3419856"/>
            <a:ext cx="2926080" cy="292608"/>
          </a:xfrm>
          <a:prstGeom prst="roundRect">
            <a:avLst>
              <a:gd name="adj" fmla="val 50000"/>
            </a:avLst>
          </a:prstGeom>
          <a:solidFill>
            <a:srgbClr val="2F6BFF">
              <a:alpha val="30000"/>
            </a:srgbClr>
          </a:solidFill>
          <a:ln w="6350">
            <a:solidFill>
              <a:srgbClr val="47CD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458200" y="341985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 de correo</a:t>
            </a:r>
            <a:endParaRPr lang="en-US" sz="1100" dirty="0"/>
          </a:p>
        </p:txBody>
      </p:sp>
      <p:sp>
        <p:nvSpPr>
          <p:cNvPr id="31" name="Etiqueta"/>
          <p:cNvSpPr/>
          <p:nvPr/>
        </p:nvSpPr>
        <p:spPr>
          <a:xfrm>
            <a:off x="8458200" y="3986784"/>
            <a:ext cx="2926080" cy="292608"/>
          </a:xfrm>
          <a:prstGeom prst="roundRect">
            <a:avLst>
              <a:gd name="adj" fmla="val 50000"/>
            </a:avLst>
          </a:prstGeom>
          <a:solidFill>
            <a:srgbClr val="2F6BFF">
              <a:alpha val="30000"/>
            </a:srgbClr>
          </a:solidFill>
          <a:ln w="6350">
            <a:solidFill>
              <a:srgbClr val="47CD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458200" y="398678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de WhatsApp Business</a:t>
            </a:r>
            <a:endParaRPr lang="en-US" sz="1100" dirty="0"/>
          </a:p>
        </p:txBody>
      </p:sp>
      <p:sp>
        <p:nvSpPr>
          <p:cNvPr id="33" name="Etiqueta"/>
          <p:cNvSpPr/>
          <p:nvPr/>
        </p:nvSpPr>
        <p:spPr>
          <a:xfrm>
            <a:off x="8458200" y="4553712"/>
            <a:ext cx="2926080" cy="292608"/>
          </a:xfrm>
          <a:prstGeom prst="roundRect">
            <a:avLst>
              <a:gd name="adj" fmla="val 50000"/>
            </a:avLst>
          </a:prstGeom>
          <a:solidFill>
            <a:srgbClr val="2F6BFF">
              <a:alpha val="30000"/>
            </a:srgbClr>
          </a:solidFill>
          <a:ln w="6350">
            <a:solidFill>
              <a:srgbClr val="47CD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458200" y="45537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Presentaciones</a:t>
            </a:r>
            <a:endParaRPr lang="en-US" sz="1100" dirty="0"/>
          </a:p>
        </p:txBody>
      </p:sp>
      <p:sp>
        <p:nvSpPr>
          <p:cNvPr id="35" name="Etiqueta"/>
          <p:cNvSpPr/>
          <p:nvPr/>
        </p:nvSpPr>
        <p:spPr>
          <a:xfrm>
            <a:off x="8458200" y="5120640"/>
            <a:ext cx="2926080" cy="292608"/>
          </a:xfrm>
          <a:prstGeom prst="roundRect">
            <a:avLst>
              <a:gd name="adj" fmla="val 50000"/>
            </a:avLst>
          </a:prstGeom>
          <a:solidFill>
            <a:srgbClr val="2F6BFF">
              <a:alpha val="30000"/>
            </a:srgbClr>
          </a:solidFill>
          <a:ln w="6350">
            <a:solidFill>
              <a:srgbClr val="47CD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458200" y="51206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Papelería e impresos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A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preliminar; se afina y aprueba junto con EuroTex.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1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 2 · Un sitio moderno que presenta y vende</a:t>
            </a:r>
            <a:endParaRPr lang="en-US" sz="3200" dirty="0"/>
          </a:p>
        </p:txBody>
      </p:sp>
      <p:pic>
        <p:nvPicPr>
          <p:cNvPr id="3" name="Image 0" descr="Concepto visual de la página de inicio de EuroTe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7315200" cy="4114800"/>
          </a:xfrm>
          <a:prstGeom prst="rect">
            <a:avLst/>
          </a:prstGeom>
        </p:spPr>
      </p:pic>
      <p:sp>
        <p:nvSpPr>
          <p:cNvPr id="4" name="Punto 1"/>
          <p:cNvSpPr/>
          <p:nvPr/>
        </p:nvSpPr>
        <p:spPr>
          <a:xfrm>
            <a:off x="8138160" y="1508760"/>
            <a:ext cx="3474720" cy="1280160"/>
          </a:xfrm>
          <a:prstGeom prst="roundRect">
            <a:avLst>
              <a:gd name="adj" fmla="val 5714"/>
            </a:avLst>
          </a:prstGeom>
          <a:solidFill>
            <a:srgbClr val="0A1530">
              <a:alpha val="75000"/>
            </a:srgbClr>
          </a:solidFill>
          <a:ln w="9525">
            <a:solidFill>
              <a:srgbClr val="27508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21040" y="1645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7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Mensaje claro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011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Titular directo y botón de cotización desde el primer vistazo.</a:t>
            </a:r>
            <a:endParaRPr lang="en-US" sz="1300" dirty="0"/>
          </a:p>
        </p:txBody>
      </p:sp>
      <p:sp>
        <p:nvSpPr>
          <p:cNvPr id="7" name="Punto 2"/>
          <p:cNvSpPr/>
          <p:nvPr/>
        </p:nvSpPr>
        <p:spPr>
          <a:xfrm>
            <a:off x="8138160" y="2926080"/>
            <a:ext cx="3474720" cy="1280160"/>
          </a:xfrm>
          <a:prstGeom prst="roundRect">
            <a:avLst>
              <a:gd name="adj" fmla="val 5714"/>
            </a:avLst>
          </a:prstGeom>
          <a:solidFill>
            <a:srgbClr val="0A1530">
              <a:alpha val="75000"/>
            </a:srgbClr>
          </a:solidFill>
          <a:ln w="9525">
            <a:solidFill>
              <a:srgbClr val="27508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21040" y="3063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7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Marcas a la vista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3429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marca representada en una tarjeta, con su línea y servicios.</a:t>
            </a:r>
            <a:endParaRPr lang="en-US" sz="1300" dirty="0"/>
          </a:p>
        </p:txBody>
      </p:sp>
      <p:sp>
        <p:nvSpPr>
          <p:cNvPr id="10" name="Punto 3"/>
          <p:cNvSpPr/>
          <p:nvPr/>
        </p:nvSpPr>
        <p:spPr>
          <a:xfrm>
            <a:off x="8138160" y="4343400"/>
            <a:ext cx="3474720" cy="1280160"/>
          </a:xfrm>
          <a:prstGeom prst="roundRect">
            <a:avLst>
              <a:gd name="adj" fmla="val 5714"/>
            </a:avLst>
          </a:prstGeom>
          <a:solidFill>
            <a:srgbClr val="0A1530">
              <a:alpha val="75000"/>
            </a:srgbClr>
          </a:solidFill>
          <a:ln w="9525">
            <a:solidFill>
              <a:srgbClr val="2750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21040" y="4480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7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siempre a mano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321040" y="48463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Botón flotante y menú de acceso rápido en todo el sitio.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A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 visual ilustrativo. El diseño final se valida con EuroTex antes de programar.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1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 2 · Un portal completamente responsivo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7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16002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Menú compacto y ordenado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210312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Opciones legibles y controles fáciles de usar con el pulgar.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632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7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30632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adapta a cada pantalla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356616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Textos, imágenes y formularios sin cortes ni desbordamientos.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5262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7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45262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Probado antes de lanzar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502920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Navegación y cotización validadas en celular, tablet y computadora.</a:t>
            </a:r>
            <a:endParaRPr lang="en-US" sz="1500" dirty="0"/>
          </a:p>
        </p:txBody>
      </p:sp>
      <p:pic>
        <p:nvPicPr>
          <p:cNvPr id="12" name="Image 0" descr="Propuesta visual del menú en celula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95360" y="1371600"/>
            <a:ext cx="2651760" cy="470916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4864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A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visual para móvil.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1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 2 · Catálogo de marcas representadas</a:t>
            </a:r>
            <a:endParaRPr lang="en-US" sz="3200" dirty="0"/>
          </a:p>
        </p:txBody>
      </p:sp>
      <p:sp>
        <p:nvSpPr>
          <p:cNvPr id="3" name="Marca Rieter"/>
          <p:cNvSpPr/>
          <p:nvPr/>
        </p:nvSpPr>
        <p:spPr>
          <a:xfrm>
            <a:off x="548640" y="1508760"/>
            <a:ext cx="3547872" cy="2103120"/>
          </a:xfrm>
          <a:prstGeom prst="roundRect">
            <a:avLst>
              <a:gd name="adj" fmla="val 3478"/>
            </a:avLst>
          </a:prstGeom>
          <a:solidFill>
            <a:srgbClr val="0A1530">
              <a:alpha val="75000"/>
            </a:srgbClr>
          </a:solidFill>
          <a:ln w="9525">
            <a:solidFill>
              <a:srgbClr val="2750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Rieter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Hilatura</a:t>
            </a:r>
            <a:endParaRPr lang="en-US" sz="1400" dirty="0"/>
          </a:p>
        </p:txBody>
      </p:sp>
      <p:sp>
        <p:nvSpPr>
          <p:cNvPr id="6" name="Etiqueta"/>
          <p:cNvSpPr/>
          <p:nvPr/>
        </p:nvSpPr>
        <p:spPr>
          <a:xfrm>
            <a:off x="822960" y="278892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2F6BFF">
              <a:alpha val="30000"/>
            </a:srgbClr>
          </a:solidFill>
          <a:ln w="6350">
            <a:solidFill>
              <a:srgbClr val="47CD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7889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Refacciones</a:t>
            </a:r>
            <a:endParaRPr lang="en-US" sz="1100" dirty="0"/>
          </a:p>
        </p:txBody>
      </p:sp>
      <p:sp>
        <p:nvSpPr>
          <p:cNvPr id="8" name="Etiqueta"/>
          <p:cNvSpPr/>
          <p:nvPr/>
        </p:nvSpPr>
        <p:spPr>
          <a:xfrm>
            <a:off x="2011680" y="27889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F6BFF">
              <a:alpha val="30000"/>
            </a:srgbClr>
          </a:solidFill>
          <a:ln w="6350">
            <a:solidFill>
              <a:srgbClr val="47CD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11680" y="27889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 técnico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20040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Cotizar esta marca →</a:t>
            </a:r>
            <a:endParaRPr lang="en-US" sz="1200" dirty="0"/>
          </a:p>
        </p:txBody>
      </p:sp>
      <p:sp>
        <p:nvSpPr>
          <p:cNvPr id="11" name="Marca Datacolor"/>
          <p:cNvSpPr/>
          <p:nvPr/>
        </p:nvSpPr>
        <p:spPr>
          <a:xfrm>
            <a:off x="4325112" y="1508760"/>
            <a:ext cx="3547872" cy="2103120"/>
          </a:xfrm>
          <a:prstGeom prst="roundRect">
            <a:avLst>
              <a:gd name="adj" fmla="val 3478"/>
            </a:avLst>
          </a:prstGeom>
          <a:solidFill>
            <a:srgbClr val="0A1530">
              <a:alpha val="75000"/>
            </a:srgbClr>
          </a:solidFill>
          <a:ln w="9525">
            <a:solidFill>
              <a:srgbClr val="2750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9432" y="1691640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Datacolor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2286000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 y color</a:t>
            </a:r>
            <a:endParaRPr lang="en-US" sz="1400" dirty="0"/>
          </a:p>
        </p:txBody>
      </p:sp>
      <p:sp>
        <p:nvSpPr>
          <p:cNvPr id="14" name="Etiqueta"/>
          <p:cNvSpPr/>
          <p:nvPr/>
        </p:nvSpPr>
        <p:spPr>
          <a:xfrm>
            <a:off x="4599432" y="278892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2F6BFF">
              <a:alpha val="30000"/>
            </a:srgbClr>
          </a:solidFill>
          <a:ln w="6350">
            <a:solidFill>
              <a:srgbClr val="47CD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99432" y="27889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Refacciones</a:t>
            </a:r>
            <a:endParaRPr lang="en-US" sz="1100" dirty="0"/>
          </a:p>
        </p:txBody>
      </p:sp>
      <p:sp>
        <p:nvSpPr>
          <p:cNvPr id="16" name="Etiqueta"/>
          <p:cNvSpPr/>
          <p:nvPr/>
        </p:nvSpPr>
        <p:spPr>
          <a:xfrm>
            <a:off x="5788152" y="27889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F6BFF">
              <a:alpha val="30000"/>
            </a:srgbClr>
          </a:solidFill>
          <a:ln w="6350">
            <a:solidFill>
              <a:srgbClr val="47CD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88152" y="27889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 técnico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99432" y="320040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Cotizar esta marca →</a:t>
            </a:r>
            <a:endParaRPr lang="en-US" sz="1200" dirty="0"/>
          </a:p>
        </p:txBody>
      </p:sp>
      <p:sp>
        <p:nvSpPr>
          <p:cNvPr id="19" name="Marca Graf"/>
          <p:cNvSpPr/>
          <p:nvPr/>
        </p:nvSpPr>
        <p:spPr>
          <a:xfrm>
            <a:off x="8101584" y="1508760"/>
            <a:ext cx="3547872" cy="2103120"/>
          </a:xfrm>
          <a:prstGeom prst="roundRect">
            <a:avLst>
              <a:gd name="adj" fmla="val 3478"/>
            </a:avLst>
          </a:prstGeom>
          <a:solidFill>
            <a:srgbClr val="0A1530">
              <a:alpha val="75000"/>
            </a:srgbClr>
          </a:solidFill>
          <a:ln w="9525">
            <a:solidFill>
              <a:srgbClr val="2750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75904" y="1691640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8375904" y="2286000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Hilatura</a:t>
            </a:r>
            <a:endParaRPr lang="en-US" sz="1400" dirty="0"/>
          </a:p>
        </p:txBody>
      </p:sp>
      <p:sp>
        <p:nvSpPr>
          <p:cNvPr id="22" name="Etiqueta"/>
          <p:cNvSpPr/>
          <p:nvPr/>
        </p:nvSpPr>
        <p:spPr>
          <a:xfrm>
            <a:off x="8375904" y="278892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2F6BFF">
              <a:alpha val="30000"/>
            </a:srgbClr>
          </a:solidFill>
          <a:ln w="6350">
            <a:solidFill>
              <a:srgbClr val="47CD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75904" y="27889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Refacciones</a:t>
            </a:r>
            <a:endParaRPr lang="en-US" sz="1100" dirty="0"/>
          </a:p>
        </p:txBody>
      </p:sp>
      <p:sp>
        <p:nvSpPr>
          <p:cNvPr id="24" name="Etiqueta"/>
          <p:cNvSpPr/>
          <p:nvPr/>
        </p:nvSpPr>
        <p:spPr>
          <a:xfrm>
            <a:off x="9564624" y="27889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F6BFF">
              <a:alpha val="30000"/>
            </a:srgbClr>
          </a:solidFill>
          <a:ln w="6350">
            <a:solidFill>
              <a:srgbClr val="47CD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564624" y="27889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 técnico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375904" y="320040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Cotizar esta marca →</a:t>
            </a:r>
            <a:endParaRPr lang="en-US" sz="1200" dirty="0"/>
          </a:p>
        </p:txBody>
      </p:sp>
      <p:sp>
        <p:nvSpPr>
          <p:cNvPr id="27" name="Marca Fong's"/>
          <p:cNvSpPr/>
          <p:nvPr/>
        </p:nvSpPr>
        <p:spPr>
          <a:xfrm>
            <a:off x="548640" y="3840480"/>
            <a:ext cx="3547872" cy="2103120"/>
          </a:xfrm>
          <a:prstGeom prst="roundRect">
            <a:avLst>
              <a:gd name="adj" fmla="val 3478"/>
            </a:avLst>
          </a:prstGeom>
          <a:solidFill>
            <a:srgbClr val="0A1530">
              <a:alpha val="75000"/>
            </a:srgbClr>
          </a:solidFill>
          <a:ln w="9525">
            <a:solidFill>
              <a:srgbClr val="27508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4023360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Fong's</a:t>
            </a:r>
            <a:endParaRPr lang="en-US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4617720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Teñido y acabado</a:t>
            </a:r>
            <a:endParaRPr lang="en-US" sz="1400" dirty="0"/>
          </a:p>
        </p:txBody>
      </p:sp>
      <p:sp>
        <p:nvSpPr>
          <p:cNvPr id="30" name="Etiqueta"/>
          <p:cNvSpPr/>
          <p:nvPr/>
        </p:nvSpPr>
        <p:spPr>
          <a:xfrm>
            <a:off x="822960" y="512064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2F6BFF">
              <a:alpha val="30000"/>
            </a:srgbClr>
          </a:solidFill>
          <a:ln w="6350">
            <a:solidFill>
              <a:srgbClr val="47CD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51206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Refacciones</a:t>
            </a:r>
            <a:endParaRPr lang="en-US" sz="1100" dirty="0"/>
          </a:p>
        </p:txBody>
      </p:sp>
      <p:sp>
        <p:nvSpPr>
          <p:cNvPr id="32" name="Etiqueta"/>
          <p:cNvSpPr/>
          <p:nvPr/>
        </p:nvSpPr>
        <p:spPr>
          <a:xfrm>
            <a:off x="2011680" y="51206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F6BFF">
              <a:alpha val="30000"/>
            </a:srgbClr>
          </a:solidFill>
          <a:ln w="6350">
            <a:solidFill>
              <a:srgbClr val="47CD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011680" y="51206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 técnico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Cotizar esta marca →</a:t>
            </a:r>
            <a:endParaRPr lang="en-US" sz="1200" dirty="0"/>
          </a:p>
        </p:txBody>
      </p:sp>
      <p:sp>
        <p:nvSpPr>
          <p:cNvPr id="35" name="Marca SSM"/>
          <p:cNvSpPr/>
          <p:nvPr/>
        </p:nvSpPr>
        <p:spPr>
          <a:xfrm>
            <a:off x="4325112" y="3840480"/>
            <a:ext cx="3547872" cy="2103120"/>
          </a:xfrm>
          <a:prstGeom prst="roundRect">
            <a:avLst>
              <a:gd name="adj" fmla="val 3478"/>
            </a:avLst>
          </a:prstGeom>
          <a:solidFill>
            <a:srgbClr val="0A1530">
              <a:alpha val="75000"/>
            </a:srgbClr>
          </a:solidFill>
          <a:ln w="9525">
            <a:solidFill>
              <a:srgbClr val="27508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99432" y="4023360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SSM</a:t>
            </a:r>
            <a:endParaRPr lang="en-US" sz="2600" dirty="0"/>
          </a:p>
        </p:txBody>
      </p:sp>
      <p:sp>
        <p:nvSpPr>
          <p:cNvPr id="37" name="Text 35"/>
          <p:cNvSpPr txBox="1"/>
          <p:nvPr/>
        </p:nvSpPr>
        <p:spPr>
          <a:xfrm>
            <a:off x="4599432" y="4617720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Hilatura</a:t>
            </a:r>
            <a:endParaRPr lang="en-US" sz="1400" dirty="0"/>
          </a:p>
        </p:txBody>
      </p:sp>
      <p:sp>
        <p:nvSpPr>
          <p:cNvPr id="38" name="Etiqueta"/>
          <p:cNvSpPr/>
          <p:nvPr/>
        </p:nvSpPr>
        <p:spPr>
          <a:xfrm>
            <a:off x="4599432" y="512064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2F6BFF">
              <a:alpha val="30000"/>
            </a:srgbClr>
          </a:solidFill>
          <a:ln w="6350">
            <a:solidFill>
              <a:srgbClr val="47CD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599432" y="51206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Refacciones</a:t>
            </a:r>
            <a:endParaRPr lang="en-US" sz="1100" dirty="0"/>
          </a:p>
        </p:txBody>
      </p:sp>
      <p:sp>
        <p:nvSpPr>
          <p:cNvPr id="40" name="Etiqueta"/>
          <p:cNvSpPr/>
          <p:nvPr/>
        </p:nvSpPr>
        <p:spPr>
          <a:xfrm>
            <a:off x="5788152" y="51206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F6BFF">
              <a:alpha val="30000"/>
            </a:srgbClr>
          </a:solidFill>
          <a:ln w="6350">
            <a:solidFill>
              <a:srgbClr val="47CD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788152" y="51206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 técnico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4599432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Cotizar esta marca →</a:t>
            </a:r>
            <a:endParaRPr lang="en-US" sz="1200" dirty="0"/>
          </a:p>
        </p:txBody>
      </p:sp>
      <p:sp>
        <p:nvSpPr>
          <p:cNvPr id="43" name="Marca Arosa"/>
          <p:cNvSpPr/>
          <p:nvPr/>
        </p:nvSpPr>
        <p:spPr>
          <a:xfrm>
            <a:off x="8101584" y="3840480"/>
            <a:ext cx="3547872" cy="2103120"/>
          </a:xfrm>
          <a:prstGeom prst="roundRect">
            <a:avLst>
              <a:gd name="adj" fmla="val 3478"/>
            </a:avLst>
          </a:prstGeom>
          <a:solidFill>
            <a:srgbClr val="0A1530">
              <a:alpha val="75000"/>
            </a:srgbClr>
          </a:solidFill>
          <a:ln w="9525">
            <a:solidFill>
              <a:srgbClr val="27508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375904" y="4023360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Arosa</a:t>
            </a:r>
            <a:endParaRPr lang="en-US" sz="2600" dirty="0"/>
          </a:p>
        </p:txBody>
      </p:sp>
      <p:sp>
        <p:nvSpPr>
          <p:cNvPr id="45" name="Text 43"/>
          <p:cNvSpPr txBox="1"/>
          <p:nvPr/>
        </p:nvSpPr>
        <p:spPr>
          <a:xfrm>
            <a:off x="8375904" y="4617720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representada</a:t>
            </a:r>
            <a:endParaRPr lang="en-US" sz="1400" dirty="0"/>
          </a:p>
        </p:txBody>
      </p:sp>
      <p:sp>
        <p:nvSpPr>
          <p:cNvPr id="46" name="Etiqueta"/>
          <p:cNvSpPr/>
          <p:nvPr/>
        </p:nvSpPr>
        <p:spPr>
          <a:xfrm>
            <a:off x="8375904" y="512064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2F6BFF">
              <a:alpha val="30000"/>
            </a:srgbClr>
          </a:solidFill>
          <a:ln w="6350">
            <a:solidFill>
              <a:srgbClr val="47CDF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375904" y="51206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Refacciones</a:t>
            </a:r>
            <a:endParaRPr lang="en-US" sz="1100" dirty="0"/>
          </a:p>
        </p:txBody>
      </p:sp>
      <p:sp>
        <p:nvSpPr>
          <p:cNvPr id="48" name="Etiqueta"/>
          <p:cNvSpPr/>
          <p:nvPr/>
        </p:nvSpPr>
        <p:spPr>
          <a:xfrm>
            <a:off x="9564624" y="51206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F6BFF">
              <a:alpha val="30000"/>
            </a:srgbClr>
          </a:solidFill>
          <a:ln w="6350">
            <a:solidFill>
              <a:srgbClr val="47CDF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564624" y="51206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 técnico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8375904" y="55321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Cotizar esta marca →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54864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A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del catálogo. Las líneas y los servicios de cada marca se definen junto con EuroTex.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1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 3 · Contacto inmediato, en un solo clic</a:t>
            </a:r>
            <a:endParaRPr lang="en-US" sz="3200" dirty="0"/>
          </a:p>
        </p:txBody>
      </p:sp>
      <p:sp>
        <p:nvSpPr>
          <p:cNvPr id="3" name="Icono fondo"/>
          <p:cNvSpPr/>
          <p:nvPr/>
        </p:nvSpPr>
        <p:spPr>
          <a:xfrm>
            <a:off x="548640" y="1554480"/>
            <a:ext cx="731520" cy="731520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pic>
        <p:nvPicPr>
          <p:cNvPr id="4" name="Image 0" descr="ico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373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554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Botón de WhatsApp Business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20116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en todo el sitio; abre la conversación con el producto o la marca ya indicados.</a:t>
            </a:r>
            <a:endParaRPr lang="en-US" sz="1400" dirty="0"/>
          </a:p>
        </p:txBody>
      </p:sp>
      <p:sp>
        <p:nvSpPr>
          <p:cNvPr id="7" name="Icono fondo"/>
          <p:cNvSpPr/>
          <p:nvPr/>
        </p:nvSpPr>
        <p:spPr>
          <a:xfrm>
            <a:off x="548640" y="3063240"/>
            <a:ext cx="731520" cy="73152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pic>
        <p:nvPicPr>
          <p:cNvPr id="8" name="Image 1" descr="icon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4612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3063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Formularios automáticos en español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508760" y="35204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Piden solo los datos útiles para ventas y llegan directo a su equipo.</a:t>
            </a:r>
            <a:endParaRPr lang="en-US" sz="1400" dirty="0"/>
          </a:p>
        </p:txBody>
      </p:sp>
      <p:sp>
        <p:nvSpPr>
          <p:cNvPr id="11" name="Icono fondo"/>
          <p:cNvSpPr/>
          <p:nvPr/>
        </p:nvSpPr>
        <p:spPr>
          <a:xfrm>
            <a:off x="548640" y="4572000"/>
            <a:ext cx="731520" cy="73152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pic>
        <p:nvPicPr>
          <p:cNvPr id="12" name="Image 2" descr="icon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75488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45720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Cotización y servicio técnico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508760" y="50292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rutas claras: pedir precio o solicitar atención técnica.</a:t>
            </a:r>
            <a:endParaRPr lang="en-US" sz="1400" dirty="0"/>
          </a:p>
        </p:txBody>
      </p:sp>
      <p:sp>
        <p:nvSpPr>
          <p:cNvPr id="15" name="Teléfono"/>
          <p:cNvSpPr/>
          <p:nvPr/>
        </p:nvSpPr>
        <p:spPr>
          <a:xfrm>
            <a:off x="7406640" y="1371600"/>
            <a:ext cx="3840480" cy="4754880"/>
          </a:xfrm>
          <a:prstGeom prst="roundRect">
            <a:avLst>
              <a:gd name="adj" fmla="val 4762"/>
            </a:avLst>
          </a:prstGeom>
          <a:solidFill>
            <a:srgbClr val="0B141F"/>
          </a:solidFill>
          <a:ln w="19050">
            <a:solidFill>
              <a:srgbClr val="27508F"/>
            </a:solidFill>
            <a:prstDash val="solid"/>
          </a:ln>
        </p:spPr>
      </p:sp>
      <p:sp>
        <p:nvSpPr>
          <p:cNvPr id="16" name="Encabezado chat"/>
          <p:cNvSpPr/>
          <p:nvPr/>
        </p:nvSpPr>
        <p:spPr>
          <a:xfrm>
            <a:off x="7589520" y="1554480"/>
            <a:ext cx="3474720" cy="685800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772400" y="15544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EuroTex · WhatsApp Business</a:t>
            </a:r>
            <a:endParaRPr lang="en-US" sz="1400" dirty="0"/>
          </a:p>
        </p:txBody>
      </p:sp>
      <p:sp>
        <p:nvSpPr>
          <p:cNvPr id="18" name="Mensaje"/>
          <p:cNvSpPr/>
          <p:nvPr/>
        </p:nvSpPr>
        <p:spPr>
          <a:xfrm>
            <a:off x="8412480" y="2468880"/>
            <a:ext cx="2560320" cy="777240"/>
          </a:xfrm>
          <a:prstGeom prst="roundRect">
            <a:avLst>
              <a:gd name="adj" fmla="val 14118"/>
            </a:avLst>
          </a:prstGeom>
          <a:solidFill>
            <a:srgbClr val="DCF8C6"/>
          </a:solidFill>
          <a:ln w="12700">
            <a:solidFill>
              <a:srgbClr val="DCF8C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522208" y="246888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Hola, necesito cotizar refacciones para una máquina de hilatura.</a:t>
            </a:r>
            <a:endParaRPr lang="en-US" sz="1200" dirty="0"/>
          </a:p>
        </p:txBody>
      </p:sp>
      <p:sp>
        <p:nvSpPr>
          <p:cNvPr id="20" name="Mensaje"/>
          <p:cNvSpPr/>
          <p:nvPr/>
        </p:nvSpPr>
        <p:spPr>
          <a:xfrm>
            <a:off x="7680960" y="3429000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1F2C34"/>
          </a:solidFill>
          <a:ln w="12700">
            <a:solidFill>
              <a:srgbClr val="1F2C34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7790688" y="3429000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¡Hola! Con gusto te ayudamos. ¿Qué marca y modelo de máquina tienes?</a:t>
            </a:r>
            <a:endParaRPr lang="en-US" sz="1200" dirty="0"/>
          </a:p>
        </p:txBody>
      </p:sp>
      <p:sp>
        <p:nvSpPr>
          <p:cNvPr id="22" name="Mensaje"/>
          <p:cNvSpPr/>
          <p:nvPr/>
        </p:nvSpPr>
        <p:spPr>
          <a:xfrm>
            <a:off x="8595360" y="438912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DCF8C6"/>
          </a:solidFill>
          <a:ln w="12700">
            <a:solidFill>
              <a:srgbClr val="DCF8C6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705088" y="438912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una máquina Rieter.</a:t>
            </a:r>
            <a:endParaRPr lang="en-US" sz="1200" dirty="0"/>
          </a:p>
        </p:txBody>
      </p:sp>
      <p:sp>
        <p:nvSpPr>
          <p:cNvPr id="24" name="Mensaje"/>
          <p:cNvSpPr/>
          <p:nvPr/>
        </p:nvSpPr>
        <p:spPr>
          <a:xfrm>
            <a:off x="7680960" y="5120640"/>
            <a:ext cx="2651760" cy="640080"/>
          </a:xfrm>
          <a:prstGeom prst="roundRect">
            <a:avLst>
              <a:gd name="adj" fmla="val 17143"/>
            </a:avLst>
          </a:prstGeom>
          <a:solidFill>
            <a:srgbClr val="1F2C34"/>
          </a:solidFill>
          <a:ln w="12700">
            <a:solidFill>
              <a:srgbClr val="1F2C34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7790688" y="5120640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Perfecto. Un asesor te envía la cotización hoy.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54864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A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Ilustración conceptual del flujo de contacto.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1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 3 · Prospección digital de nuevos clientes</a:t>
            </a:r>
            <a:endParaRPr lang="en-US" sz="3200" dirty="0"/>
          </a:p>
        </p:txBody>
      </p:sp>
      <p:sp>
        <p:nvSpPr>
          <p:cNvPr id="3" name="Paso 1"/>
          <p:cNvSpPr/>
          <p:nvPr/>
        </p:nvSpPr>
        <p:spPr>
          <a:xfrm>
            <a:off x="548640" y="182880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0A1530">
              <a:alpha val="75000"/>
            </a:srgbClr>
          </a:solidFill>
          <a:ln w="9525">
            <a:solidFill>
              <a:srgbClr val="27508F"/>
            </a:solidFill>
            <a:prstDash val="solid"/>
          </a:ln>
        </p:spPr>
      </p:sp>
      <p:sp>
        <p:nvSpPr>
          <p:cNvPr id="4" name="Icono fondo"/>
          <p:cNvSpPr/>
          <p:nvPr/>
        </p:nvSpPr>
        <p:spPr>
          <a:xfrm>
            <a:off x="822960" y="2103120"/>
            <a:ext cx="777240" cy="7772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pic>
        <p:nvPicPr>
          <p:cNvPr id="5" name="Image 0" descr="ico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29743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7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el perfil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7947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Textileras y empresas del sector en México que usan maquinaria de las marcas representadas.</a:t>
            </a:r>
            <a:endParaRPr lang="en-US" sz="1300" dirty="0"/>
          </a:p>
        </p:txBody>
      </p:sp>
      <p:sp>
        <p:nvSpPr>
          <p:cNvPr id="9" name="Flecha"/>
          <p:cNvSpPr/>
          <p:nvPr/>
        </p:nvSpPr>
        <p:spPr>
          <a:xfrm>
            <a:off x="3127248" y="3337560"/>
            <a:ext cx="246888" cy="274320"/>
          </a:xfrm>
          <a:prstGeom prst="rightArrow">
            <a:avLst/>
          </a:prstGeom>
          <a:solidFill>
            <a:srgbClr val="47CDFF"/>
          </a:solidFill>
          <a:ln w="12700">
            <a:solidFill>
              <a:srgbClr val="47CDFF"/>
            </a:solidFill>
            <a:prstDash val="solid"/>
          </a:ln>
        </p:spPr>
      </p:sp>
      <p:sp>
        <p:nvSpPr>
          <p:cNvPr id="10" name="Paso 2"/>
          <p:cNvSpPr/>
          <p:nvPr/>
        </p:nvSpPr>
        <p:spPr>
          <a:xfrm>
            <a:off x="3392424" y="182880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0A1530">
              <a:alpha val="75000"/>
            </a:srgbClr>
          </a:solidFill>
          <a:ln w="9525">
            <a:solidFill>
              <a:srgbClr val="27508F"/>
            </a:solidFill>
            <a:prstDash val="solid"/>
          </a:ln>
        </p:spPr>
      </p:sp>
      <p:sp>
        <p:nvSpPr>
          <p:cNvPr id="11" name="Icono fondo"/>
          <p:cNvSpPr/>
          <p:nvPr/>
        </p:nvSpPr>
        <p:spPr>
          <a:xfrm>
            <a:off x="3666744" y="2103120"/>
            <a:ext cx="777240" cy="7772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pic>
        <p:nvPicPr>
          <p:cNvPr id="12" name="Image 1" descr="icon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1054" y="2297430"/>
            <a:ext cx="388620" cy="3886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66744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7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2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3666744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3666744" y="37947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y redes profesionales para identificar empresas y áreas de compra.</a:t>
            </a:r>
            <a:endParaRPr lang="en-US" sz="1300" dirty="0"/>
          </a:p>
        </p:txBody>
      </p:sp>
      <p:sp>
        <p:nvSpPr>
          <p:cNvPr id="16" name="Flecha"/>
          <p:cNvSpPr/>
          <p:nvPr/>
        </p:nvSpPr>
        <p:spPr>
          <a:xfrm>
            <a:off x="5971032" y="3337560"/>
            <a:ext cx="246888" cy="274320"/>
          </a:xfrm>
          <a:prstGeom prst="rightArrow">
            <a:avLst/>
          </a:prstGeom>
          <a:solidFill>
            <a:srgbClr val="47CDFF"/>
          </a:solidFill>
          <a:ln w="12700">
            <a:solidFill>
              <a:srgbClr val="47CDFF"/>
            </a:solidFill>
            <a:prstDash val="solid"/>
          </a:ln>
        </p:spPr>
      </p:sp>
      <p:sp>
        <p:nvSpPr>
          <p:cNvPr id="17" name="Paso 3"/>
          <p:cNvSpPr/>
          <p:nvPr/>
        </p:nvSpPr>
        <p:spPr>
          <a:xfrm>
            <a:off x="6236208" y="182880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0A1530">
              <a:alpha val="75000"/>
            </a:srgbClr>
          </a:solidFill>
          <a:ln w="9525">
            <a:solidFill>
              <a:srgbClr val="27508F"/>
            </a:solidFill>
            <a:prstDash val="solid"/>
          </a:ln>
        </p:spPr>
      </p:sp>
      <p:sp>
        <p:nvSpPr>
          <p:cNvPr id="18" name="Icono fondo"/>
          <p:cNvSpPr/>
          <p:nvPr/>
        </p:nvSpPr>
        <p:spPr>
          <a:xfrm>
            <a:off x="6510528" y="2103120"/>
            <a:ext cx="777240" cy="7772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pic>
        <p:nvPicPr>
          <p:cNvPr id="19" name="Image 2" descr="icon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838" y="2297430"/>
            <a:ext cx="388620" cy="3886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510528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7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3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510528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Armar la base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6510528" y="37947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Empresa, ubicación, línea de interés y contacto, ordenados para ventas.</a:t>
            </a:r>
            <a:endParaRPr lang="en-US" sz="1300" dirty="0"/>
          </a:p>
        </p:txBody>
      </p:sp>
      <p:sp>
        <p:nvSpPr>
          <p:cNvPr id="23" name="Flecha"/>
          <p:cNvSpPr/>
          <p:nvPr/>
        </p:nvSpPr>
        <p:spPr>
          <a:xfrm>
            <a:off x="8814816" y="3337560"/>
            <a:ext cx="246888" cy="274320"/>
          </a:xfrm>
          <a:prstGeom prst="rightArrow">
            <a:avLst/>
          </a:prstGeom>
          <a:solidFill>
            <a:srgbClr val="47CDFF"/>
          </a:solidFill>
          <a:ln w="12700">
            <a:solidFill>
              <a:srgbClr val="47CDFF"/>
            </a:solidFill>
            <a:prstDash val="solid"/>
          </a:ln>
        </p:spPr>
      </p:sp>
      <p:sp>
        <p:nvSpPr>
          <p:cNvPr id="24" name="Paso 4"/>
          <p:cNvSpPr/>
          <p:nvPr/>
        </p:nvSpPr>
        <p:spPr>
          <a:xfrm>
            <a:off x="9079992" y="182880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0A1530">
              <a:alpha val="75000"/>
            </a:srgbClr>
          </a:solidFill>
          <a:ln w="9525">
            <a:solidFill>
              <a:srgbClr val="27508F"/>
            </a:solidFill>
            <a:prstDash val="solid"/>
          </a:ln>
        </p:spPr>
      </p:sp>
      <p:sp>
        <p:nvSpPr>
          <p:cNvPr id="25" name="Icono fondo"/>
          <p:cNvSpPr/>
          <p:nvPr/>
        </p:nvSpPr>
        <p:spPr>
          <a:xfrm>
            <a:off x="9354312" y="2103120"/>
            <a:ext cx="777240" cy="7772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pic>
        <p:nvPicPr>
          <p:cNvPr id="26" name="Image 3" descr="icon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8622" y="2297430"/>
            <a:ext cx="388620" cy="38862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354312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7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4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9354312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Contactar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9354312" y="37947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acercamiento y seguimiento con WhatsApp y formularios del nuevo sitio.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7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Entregable: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documentado y base de datos de clientes potenciales en México.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54864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A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usa información pública. No se prometen volumen de prospectos ni cierres.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1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primera impresión a la primera cotización</a:t>
            </a:r>
            <a:endParaRPr lang="en-US" sz="3200" dirty="0"/>
          </a:p>
        </p:txBody>
      </p:sp>
      <p:sp>
        <p:nvSpPr>
          <p:cNvPr id="3" name="Hoy"/>
          <p:cNvSpPr/>
          <p:nvPr/>
        </p:nvSpPr>
        <p:spPr>
          <a:xfrm>
            <a:off x="548640" y="1554480"/>
            <a:ext cx="5212080" cy="3840480"/>
          </a:xfrm>
          <a:prstGeom prst="roundRect">
            <a:avLst>
              <a:gd name="adj" fmla="val 1905"/>
            </a:avLst>
          </a:prstGeom>
          <a:solidFill>
            <a:srgbClr val="0A1530">
              <a:alpha val="75000"/>
            </a:srgbClr>
          </a:solidFill>
          <a:ln w="9525">
            <a:solidFill>
              <a:srgbClr val="2750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1A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Textos y testimonios de ejemplo por sustituir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Formulario y pie de página en inglés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Menú por optimizar en celular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sin una vista por marca</a:t>
            </a:r>
            <a:endParaRPr lang="en-US" sz="1600" dirty="0"/>
          </a:p>
        </p:txBody>
      </p:sp>
      <p:sp>
        <p:nvSpPr>
          <p:cNvPr id="6" name="Flecha"/>
          <p:cNvSpPr/>
          <p:nvPr/>
        </p:nvSpPr>
        <p:spPr>
          <a:xfrm>
            <a:off x="5852160" y="3246120"/>
            <a:ext cx="457200" cy="457200"/>
          </a:xfrm>
          <a:prstGeom prst="rightArrow">
            <a:avLst/>
          </a:prstGeom>
          <a:solidFill>
            <a:srgbClr val="47CDFF"/>
          </a:solidFill>
          <a:ln w="12700">
            <a:solidFill>
              <a:srgbClr val="47CDFF"/>
            </a:solidFill>
            <a:prstDash val="solid"/>
          </a:ln>
        </p:spPr>
      </p:sp>
      <p:sp>
        <p:nvSpPr>
          <p:cNvPr id="7" name="Con la propuesta"/>
          <p:cNvSpPr/>
          <p:nvPr/>
        </p:nvSpPr>
        <p:spPr>
          <a:xfrm>
            <a:off x="6400800" y="1554480"/>
            <a:ext cx="5212080" cy="3840480"/>
          </a:xfrm>
          <a:prstGeom prst="roundRect">
            <a:avLst>
              <a:gd name="adj" fmla="val 1905"/>
            </a:avLst>
          </a:prstGeom>
          <a:solidFill>
            <a:srgbClr val="2F6BFF">
              <a:alpha val="40000"/>
            </a:srgbClr>
          </a:solidFill>
          <a:ln w="15875">
            <a:solidFill>
              <a:srgbClr val="47CD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7512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7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LA PROPUESTA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24028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Moderna: marca renovada y sitio 100% en español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Tecnológica: catálogo claro y cotización en un clic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Líder del mercado: casos reales y marcas a la vista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Atención rápida: WhatsApp y formularios directos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A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Basado en la revisión del sitio público, 6 de octubre de 2026.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1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allá de la web: módulos a la medida</a:t>
            </a:r>
            <a:endParaRPr lang="en-US" sz="3200" dirty="0"/>
          </a:p>
        </p:txBody>
      </p:sp>
      <p:sp>
        <p:nvSpPr>
          <p:cNvPr id="3" name="Módulo 1"/>
          <p:cNvSpPr/>
          <p:nvPr/>
        </p:nvSpPr>
        <p:spPr>
          <a:xfrm>
            <a:off x="548640" y="1508760"/>
            <a:ext cx="3108960" cy="1965960"/>
          </a:xfrm>
          <a:prstGeom prst="roundRect">
            <a:avLst>
              <a:gd name="adj" fmla="val 3721"/>
            </a:avLst>
          </a:prstGeom>
          <a:solidFill>
            <a:srgbClr val="0A1530">
              <a:alpha val="75000"/>
            </a:srgbClr>
          </a:solidFill>
          <a:ln w="9525">
            <a:solidFill>
              <a:srgbClr val="27508F"/>
            </a:solidFill>
            <a:prstDash val="solid"/>
          </a:ln>
        </p:spPr>
      </p:sp>
      <p:sp>
        <p:nvSpPr>
          <p:cNvPr id="4" name="Icono fondo"/>
          <p:cNvSpPr/>
          <p:nvPr/>
        </p:nvSpPr>
        <p:spPr>
          <a:xfrm>
            <a:off x="777240" y="1737360"/>
            <a:ext cx="594360" cy="59436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pic>
        <p:nvPicPr>
          <p:cNvPr id="5" name="Image 0" descr="ico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88595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373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desde cero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Prospectos, oportunidades, cotizaciones y tareas según su proceso comercial.</a:t>
            </a:r>
            <a:endParaRPr lang="en-US" sz="1300" dirty="0"/>
          </a:p>
        </p:txBody>
      </p:sp>
      <p:sp>
        <p:nvSpPr>
          <p:cNvPr id="8" name="Módulo 2"/>
          <p:cNvSpPr/>
          <p:nvPr/>
        </p:nvSpPr>
        <p:spPr>
          <a:xfrm>
            <a:off x="3794760" y="1508760"/>
            <a:ext cx="3108960" cy="1965960"/>
          </a:xfrm>
          <a:prstGeom prst="roundRect">
            <a:avLst>
              <a:gd name="adj" fmla="val 3721"/>
            </a:avLst>
          </a:prstGeom>
          <a:solidFill>
            <a:srgbClr val="0A1530">
              <a:alpha val="75000"/>
            </a:srgbClr>
          </a:solidFill>
          <a:ln w="9525">
            <a:solidFill>
              <a:srgbClr val="27508F"/>
            </a:solidFill>
            <a:prstDash val="solid"/>
          </a:ln>
        </p:spPr>
      </p:sp>
      <p:sp>
        <p:nvSpPr>
          <p:cNvPr id="9" name="Icono fondo"/>
          <p:cNvSpPr/>
          <p:nvPr/>
        </p:nvSpPr>
        <p:spPr>
          <a:xfrm>
            <a:off x="4023360" y="1737360"/>
            <a:ext cx="594360" cy="59436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pic>
        <p:nvPicPr>
          <p:cNvPr id="10" name="Image 1" descr="icon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950" y="188595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54880" y="17373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Portales web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023360" y="24688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o distribuidores con acceso a documentos, solicitudes y seguimiento.</a:t>
            </a:r>
            <a:endParaRPr lang="en-US" sz="1300" dirty="0"/>
          </a:p>
        </p:txBody>
      </p:sp>
      <p:sp>
        <p:nvSpPr>
          <p:cNvPr id="13" name="Módulo 3"/>
          <p:cNvSpPr/>
          <p:nvPr/>
        </p:nvSpPr>
        <p:spPr>
          <a:xfrm>
            <a:off x="548640" y="3657600"/>
            <a:ext cx="3108960" cy="1965960"/>
          </a:xfrm>
          <a:prstGeom prst="roundRect">
            <a:avLst>
              <a:gd name="adj" fmla="val 3721"/>
            </a:avLst>
          </a:prstGeom>
          <a:solidFill>
            <a:srgbClr val="0A1530">
              <a:alpha val="75000"/>
            </a:srgbClr>
          </a:solidFill>
          <a:ln w="9525">
            <a:solidFill>
              <a:srgbClr val="27508F"/>
            </a:solidFill>
            <a:prstDash val="solid"/>
          </a:ln>
        </p:spPr>
      </p:sp>
      <p:sp>
        <p:nvSpPr>
          <p:cNvPr id="14" name="Icono fondo"/>
          <p:cNvSpPr/>
          <p:nvPr/>
        </p:nvSpPr>
        <p:spPr>
          <a:xfrm>
            <a:off x="777240" y="3886200"/>
            <a:ext cx="594360" cy="59436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pic>
        <p:nvPicPr>
          <p:cNvPr id="15" name="Image 2" descr="icon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403479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38862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46177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Flujos propios para reducir captura repetida y trabajo manual.</a:t>
            </a:r>
            <a:endParaRPr lang="en-US" sz="1300" dirty="0"/>
          </a:p>
        </p:txBody>
      </p:sp>
      <p:sp>
        <p:nvSpPr>
          <p:cNvPr id="18" name="Módulo 4"/>
          <p:cNvSpPr/>
          <p:nvPr/>
        </p:nvSpPr>
        <p:spPr>
          <a:xfrm>
            <a:off x="3794760" y="3657600"/>
            <a:ext cx="3108960" cy="1965960"/>
          </a:xfrm>
          <a:prstGeom prst="roundRect">
            <a:avLst>
              <a:gd name="adj" fmla="val 3721"/>
            </a:avLst>
          </a:prstGeom>
          <a:solidFill>
            <a:srgbClr val="0A1530">
              <a:alpha val="75000"/>
            </a:srgbClr>
          </a:solidFill>
          <a:ln w="9525">
            <a:solidFill>
              <a:srgbClr val="27508F"/>
            </a:solidFill>
            <a:prstDash val="solid"/>
          </a:ln>
        </p:spPr>
      </p:sp>
      <p:sp>
        <p:nvSpPr>
          <p:cNvPr id="19" name="Icono fondo"/>
          <p:cNvSpPr/>
          <p:nvPr/>
        </p:nvSpPr>
        <p:spPr>
          <a:xfrm>
            <a:off x="4023360" y="3886200"/>
            <a:ext cx="594360" cy="59436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pic>
        <p:nvPicPr>
          <p:cNvPr id="20" name="Image 3" descr="icon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1950" y="4034790"/>
            <a:ext cx="297180" cy="2971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754880" y="38862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Integraciones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4023360" y="46177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 con ERP, plataformas y servicios externos, según sus accesos.</a:t>
            </a:r>
            <a:endParaRPr lang="en-US" sz="1300" dirty="0"/>
          </a:p>
        </p:txBody>
      </p:sp>
      <p:sp>
        <p:nvSpPr>
          <p:cNvPr id="23" name="Inteligencia de negocio"/>
          <p:cNvSpPr/>
          <p:nvPr/>
        </p:nvSpPr>
        <p:spPr>
          <a:xfrm>
            <a:off x="7223760" y="1508760"/>
            <a:ext cx="4389120" cy="4114800"/>
          </a:xfrm>
          <a:prstGeom prst="roundRect">
            <a:avLst>
              <a:gd name="adj" fmla="val 1778"/>
            </a:avLst>
          </a:prstGeom>
          <a:solidFill>
            <a:srgbClr val="0A1530">
              <a:alpha val="75000"/>
            </a:srgbClr>
          </a:solidFill>
          <a:ln w="9525">
            <a:solidFill>
              <a:srgbClr val="27508F"/>
            </a:solidFill>
            <a:prstDash val="solid"/>
          </a:ln>
        </p:spPr>
      </p:sp>
      <p:sp>
        <p:nvSpPr>
          <p:cNvPr id="24" name="Icono fondo"/>
          <p:cNvSpPr/>
          <p:nvPr/>
        </p:nvSpPr>
        <p:spPr>
          <a:xfrm>
            <a:off x="7498080" y="1783080"/>
            <a:ext cx="594360" cy="594360"/>
          </a:xfrm>
          <a:prstGeom prst="ellipse">
            <a:avLst/>
          </a:prstGeom>
          <a:solidFill>
            <a:srgbClr val="47CDFF"/>
          </a:solidFill>
          <a:ln w="12700">
            <a:solidFill>
              <a:srgbClr val="47CDFF"/>
            </a:solidFill>
            <a:prstDash val="solid"/>
          </a:ln>
        </p:spPr>
      </p:sp>
      <p:pic>
        <p:nvPicPr>
          <p:cNvPr id="25" name="Image 4" descr="icon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6670" y="1931670"/>
            <a:ext cx="297180" cy="2971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275320" y="17830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Inteligencia de negocio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7498080" y="2606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Tableros con datos de la web, del CRM y de las fuentes que EuroTex autorice.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7498080" y="352044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Consultas por línea de producto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Cotizaciones y tasa de cierre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Oportunidades por asesor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Tiempos de atención y seguimiento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A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 opcionales con alcance y cotización propios. Viabilidad sujeta a APIs, permisos y documentación.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1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de trabajo por fases</a:t>
            </a:r>
            <a:endParaRPr lang="en-US" sz="3200" dirty="0"/>
          </a:p>
        </p:txBody>
      </p:sp>
      <p:sp>
        <p:nvSpPr>
          <p:cNvPr id="3" name="Fase 1"/>
          <p:cNvSpPr/>
          <p:nvPr/>
        </p:nvSpPr>
        <p:spPr>
          <a:xfrm>
            <a:off x="548640" y="1737360"/>
            <a:ext cx="2560320" cy="3474720"/>
          </a:xfrm>
          <a:prstGeom prst="roundRect">
            <a:avLst>
              <a:gd name="adj" fmla="val 2857"/>
            </a:avLst>
          </a:prstGeom>
          <a:solidFill>
            <a:srgbClr val="0A1530">
              <a:alpha val="75000"/>
            </a:srgbClr>
          </a:solidFill>
          <a:ln w="9525">
            <a:solidFill>
              <a:srgbClr val="2750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47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34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Levantamiento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490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Objetivos, contenidos, marcas y servicios, accesos y responsables.</a:t>
            </a:r>
            <a:endParaRPr lang="en-US" sz="1400" dirty="0"/>
          </a:p>
        </p:txBody>
      </p:sp>
      <p:sp>
        <p:nvSpPr>
          <p:cNvPr id="7" name="Flecha"/>
          <p:cNvSpPr/>
          <p:nvPr/>
        </p:nvSpPr>
        <p:spPr>
          <a:xfrm>
            <a:off x="3127248" y="3291840"/>
            <a:ext cx="246888" cy="274320"/>
          </a:xfrm>
          <a:prstGeom prst="rightArrow">
            <a:avLst/>
          </a:prstGeom>
          <a:solidFill>
            <a:srgbClr val="47CDFF"/>
          </a:solidFill>
          <a:ln w="12700">
            <a:solidFill>
              <a:srgbClr val="47CDFF"/>
            </a:solidFill>
            <a:prstDash val="solid"/>
          </a:ln>
        </p:spPr>
      </p:sp>
      <p:sp>
        <p:nvSpPr>
          <p:cNvPr id="8" name="Fase 2"/>
          <p:cNvSpPr/>
          <p:nvPr/>
        </p:nvSpPr>
        <p:spPr>
          <a:xfrm>
            <a:off x="3392424" y="1737360"/>
            <a:ext cx="2560320" cy="3474720"/>
          </a:xfrm>
          <a:prstGeom prst="roundRect">
            <a:avLst>
              <a:gd name="adj" fmla="val 2857"/>
            </a:avLst>
          </a:prstGeom>
          <a:solidFill>
            <a:srgbClr val="0A1530">
              <a:alpha val="75000"/>
            </a:srgbClr>
          </a:solidFill>
          <a:ln w="9525">
            <a:solidFill>
              <a:srgbClr val="2750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66744" y="19659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47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666744" y="2834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 y diseño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66744" y="37490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Logotipo, guía visual y propuesta de sitio que EuroTex valida antes de programar.</a:t>
            </a:r>
            <a:endParaRPr lang="en-US" sz="1400" dirty="0"/>
          </a:p>
        </p:txBody>
      </p:sp>
      <p:sp>
        <p:nvSpPr>
          <p:cNvPr id="12" name="Flecha"/>
          <p:cNvSpPr/>
          <p:nvPr/>
        </p:nvSpPr>
        <p:spPr>
          <a:xfrm>
            <a:off x="5971032" y="3291840"/>
            <a:ext cx="246888" cy="274320"/>
          </a:xfrm>
          <a:prstGeom prst="rightArrow">
            <a:avLst/>
          </a:prstGeom>
          <a:solidFill>
            <a:srgbClr val="47CDFF"/>
          </a:solidFill>
          <a:ln w="12700">
            <a:solidFill>
              <a:srgbClr val="47CDFF"/>
            </a:solidFill>
            <a:prstDash val="solid"/>
          </a:ln>
        </p:spPr>
      </p:sp>
      <p:sp>
        <p:nvSpPr>
          <p:cNvPr id="13" name="Fase 3"/>
          <p:cNvSpPr/>
          <p:nvPr/>
        </p:nvSpPr>
        <p:spPr>
          <a:xfrm>
            <a:off x="6236208" y="1737360"/>
            <a:ext cx="2560320" cy="3474720"/>
          </a:xfrm>
          <a:prstGeom prst="roundRect">
            <a:avLst>
              <a:gd name="adj" fmla="val 2857"/>
            </a:avLst>
          </a:prstGeom>
          <a:solidFill>
            <a:srgbClr val="0A1530">
              <a:alpha val="75000"/>
            </a:srgbClr>
          </a:solidFill>
          <a:ln w="9525">
            <a:solidFill>
              <a:srgbClr val="2750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10528" y="19659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47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2834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y lanzamiento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510528" y="37490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Construcción, catálogo, contacto, pruebas, migración acordada y capacitación.</a:t>
            </a:r>
            <a:endParaRPr lang="en-US" sz="1400" dirty="0"/>
          </a:p>
        </p:txBody>
      </p:sp>
      <p:sp>
        <p:nvSpPr>
          <p:cNvPr id="17" name="Flecha"/>
          <p:cNvSpPr/>
          <p:nvPr/>
        </p:nvSpPr>
        <p:spPr>
          <a:xfrm>
            <a:off x="8814816" y="3291840"/>
            <a:ext cx="246888" cy="274320"/>
          </a:xfrm>
          <a:prstGeom prst="rightArrow">
            <a:avLst/>
          </a:prstGeom>
          <a:solidFill>
            <a:srgbClr val="47CDFF"/>
          </a:solidFill>
          <a:ln w="12700">
            <a:solidFill>
              <a:srgbClr val="47CDFF"/>
            </a:solidFill>
            <a:prstDash val="solid"/>
          </a:ln>
        </p:spPr>
      </p:sp>
      <p:sp>
        <p:nvSpPr>
          <p:cNvPr id="18" name="Fase 4"/>
          <p:cNvSpPr/>
          <p:nvPr/>
        </p:nvSpPr>
        <p:spPr>
          <a:xfrm>
            <a:off x="9079992" y="1737360"/>
            <a:ext cx="2560320" cy="3474720"/>
          </a:xfrm>
          <a:prstGeom prst="roundRect">
            <a:avLst>
              <a:gd name="adj" fmla="val 2857"/>
            </a:avLst>
          </a:prstGeom>
          <a:solidFill>
            <a:srgbClr val="0A1530">
              <a:alpha val="75000"/>
            </a:srgbClr>
          </a:solidFill>
          <a:ln w="9525">
            <a:solidFill>
              <a:srgbClr val="27508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354312" y="19659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47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9354312" y="2834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Prospección y evolución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354312" y="37490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clientes potenciales y módulos según prioridades.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7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Necesitamos de EuroTex: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logotipos y fichas de marca, textos y fotografías, un responsable de contenidos y acceso al dominio y hosting.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A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Plazos, entregables e inversión se definen en la cotización formal.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1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formas de empezar</a:t>
            </a:r>
            <a:endParaRPr lang="en-US" sz="3200" dirty="0"/>
          </a:p>
        </p:txBody>
      </p:sp>
      <p:sp>
        <p:nvSpPr>
          <p:cNvPr id="3" name="Paquete 1"/>
          <p:cNvSpPr/>
          <p:nvPr/>
        </p:nvSpPr>
        <p:spPr>
          <a:xfrm>
            <a:off x="548640" y="1508760"/>
            <a:ext cx="3566160" cy="4526280"/>
          </a:xfrm>
          <a:prstGeom prst="roundRect">
            <a:avLst>
              <a:gd name="adj" fmla="val 2051"/>
            </a:avLst>
          </a:prstGeom>
          <a:solidFill>
            <a:srgbClr val="0A1530">
              <a:alpha val="75000"/>
            </a:srgbClr>
          </a:solidFill>
          <a:ln w="9525">
            <a:solidFill>
              <a:srgbClr val="2750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103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y catálogo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603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renovar el sitio y empezar a recibir cotizaciones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8328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y desarrollo del sitio, 100% responsivo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de marcas y servicios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Formularios y botón de WhatsApp Business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técnico básico y analítica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Capacitación para editar contenidos</a:t>
            </a:r>
            <a:endParaRPr lang="en-US" sz="1400" dirty="0"/>
          </a:p>
        </p:txBody>
      </p:sp>
      <p:sp>
        <p:nvSpPr>
          <p:cNvPr id="7" name="Paquete 2"/>
          <p:cNvSpPr/>
          <p:nvPr/>
        </p:nvSpPr>
        <p:spPr>
          <a:xfrm>
            <a:off x="4297680" y="1508760"/>
            <a:ext cx="3566160" cy="4526280"/>
          </a:xfrm>
          <a:prstGeom prst="roundRect">
            <a:avLst>
              <a:gd name="adj" fmla="val 2051"/>
            </a:avLst>
          </a:prstGeom>
          <a:solidFill>
            <a:srgbClr val="2F6BFF">
              <a:alpha val="40000"/>
            </a:srgbClr>
          </a:solidFill>
          <a:ln w="19050">
            <a:solidFill>
              <a:srgbClr val="47CDFF"/>
            </a:solidFill>
            <a:prstDash val="solid"/>
          </a:ln>
        </p:spPr>
      </p:sp>
      <p:sp>
        <p:nvSpPr>
          <p:cNvPr id="8" name="Etiqueta"/>
          <p:cNvSpPr/>
          <p:nvPr/>
        </p:nvSpPr>
        <p:spPr>
          <a:xfrm>
            <a:off x="4572000" y="169164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2F6BFF">
              <a:alpha val="30000"/>
            </a:srgbClr>
          </a:solidFill>
          <a:ln w="6350">
            <a:solidFill>
              <a:srgbClr val="47CD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6916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Recomendado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103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 y web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5603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imagen nueva y el sitio que la presenta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38328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lo de Web y catálogo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Logotipo renovado con variantes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visual: colores, tipografías y formatos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en cotizaciones, firma y WhatsApp</a:t>
            </a:r>
            <a:endParaRPr lang="en-US" sz="1400" dirty="0"/>
          </a:p>
        </p:txBody>
      </p:sp>
      <p:sp>
        <p:nvSpPr>
          <p:cNvPr id="13" name="Paquete 3"/>
          <p:cNvSpPr/>
          <p:nvPr/>
        </p:nvSpPr>
        <p:spPr>
          <a:xfrm>
            <a:off x="8046720" y="1508760"/>
            <a:ext cx="3566160" cy="4526280"/>
          </a:xfrm>
          <a:prstGeom prst="roundRect">
            <a:avLst>
              <a:gd name="adj" fmla="val 2051"/>
            </a:avLst>
          </a:prstGeom>
          <a:solidFill>
            <a:srgbClr val="0A1530">
              <a:alpha val="75000"/>
            </a:srgbClr>
          </a:solidFill>
          <a:ln w="9525">
            <a:solidFill>
              <a:srgbClr val="2750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2103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Crecimiento completo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5603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vender más, no solo verse mejor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38328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lo de Identidad y web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Prospección digital y base de clientes potenciales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CRM, portal o tableros como módulos adicionales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Acompañamiento comercial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A3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inversión y los plazos de cada opción se definen en la cotización formal, después de la reunión de alcance.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1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 paso: reunión de alcance y cotización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Agendemos una reunión para confirmar el catálogo, los contenidos y las prioridades de EuroTex. Con eso preparamos una cotización formal.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Podemos comenzar por el eje que más urgencia tenga: identidad, sitio web o prospección.</a:t>
            </a:r>
            <a:endParaRPr lang="en-US" sz="1600" dirty="0"/>
          </a:p>
        </p:txBody>
      </p:sp>
      <p:sp>
        <p:nvSpPr>
          <p:cNvPr id="5" name="Tarjeta de contacto"/>
          <p:cNvSpPr/>
          <p:nvPr/>
        </p:nvSpPr>
        <p:spPr>
          <a:xfrm>
            <a:off x="6583680" y="1645920"/>
            <a:ext cx="50292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SYMTHRE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0" y="1828800"/>
            <a:ext cx="4480560" cy="10972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949440" y="31089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0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</a:t>
            </a:r>
            <a:endParaRPr lang="en-US" sz="2000" dirty="0"/>
          </a:p>
        </p:txBody>
      </p:sp>
      <p:pic>
        <p:nvPicPr>
          <p:cNvPr id="8" name="Image 1" descr="icon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384048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406640" y="3794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valpuestagerardo@gmail.com</a:t>
            </a:r>
            <a:endParaRPr lang="en-US" sz="1500" dirty="0"/>
          </a:p>
        </p:txBody>
      </p:sp>
      <p:pic>
        <p:nvPicPr>
          <p:cNvPr id="10" name="Image 2" descr="icon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38912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406640" y="4343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dylan.zamorac@gmail.com</a:t>
            </a:r>
            <a:endParaRPr lang="en-US" sz="1500" dirty="0"/>
          </a:p>
        </p:txBody>
      </p:sp>
      <p:pic>
        <p:nvPicPr>
          <p:cNvPr id="12" name="Image 3" descr="icon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493776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7406640" y="4892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gerardovalpuesta.vercel.app/portfolio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1A3B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MTHREE EuroTex">
  <a:themeElements>
    <a:clrScheme name="SYMTHREE EuroTex">
      <a:dk1>
        <a:srgbClr val="101A2B"/>
      </a:dk1>
      <a:lt1>
        <a:srgbClr val="FFFFFF"/>
      </a:lt1>
      <a:dk2>
        <a:srgbClr val="0A1530"/>
      </a:dk2>
      <a:lt2>
        <a:srgbClr val="C8D8EF"/>
      </a:lt2>
      <a:accent1>
        <a:srgbClr val="47CDFF"/>
      </a:accent1>
      <a:accent2>
        <a:srgbClr val="2F6BFF"/>
      </a:accent2>
      <a:accent3>
        <a:srgbClr val="0B2A5B"/>
      </a:accent3>
      <a:accent4>
        <a:srgbClr val="3B4652"/>
      </a:accent4>
      <a:accent5>
        <a:srgbClr val="91A3BD"/>
      </a:accent5>
      <a:accent6>
        <a:srgbClr val="25D366"/>
      </a:accent6>
      <a:hlink>
        <a:srgbClr val="47CDFF"/>
      </a:hlink>
      <a:folHlink>
        <a:srgbClr val="91A3BD"/>
      </a:folHlink>
    </a:clrScheme>
    <a:fontScheme name="SYMTHREE EuroTex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SYMTHREE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para EuroTex — SYMTHREE</dc:title>
  <dc:subject>PptxGenJS Presentation</dc:subject>
  <dc:creator>SYMTHREE</dc:creator>
  <cp:lastModifiedBy>SYMTHREE</cp:lastModifiedBy>
  <cp:revision>1</cp:revision>
  <dcterms:created xsi:type="dcterms:W3CDTF">2026-10-07T07:05:55Z</dcterms:created>
  <dcterms:modified xsi:type="dcterms:W3CDTF">2026-10-07T07:05:55Z</dcterms:modified>
</cp:coreProperties>
</file>